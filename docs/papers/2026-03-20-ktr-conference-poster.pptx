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dwell\AppData\Local\Temp\ktr-pptx\poster-assets\poster-bg.png">    </p:cNvPr>
          <p:cNvPicPr>
            <a:picLocks noChangeAspect="1"/>
          </p:cNvPicPr>
          <p:nvPr/>
        </p:nvPicPr>
        <p:blipFill>
          <a:blip r:embed="rId1"/>
          <a:stretch>
            <a:fillRect/>
          </a:stretch>
        </p:blipFill>
        <p:spPr>
          <a:xfrm>
            <a:off x="0" y="0"/>
            <a:ext cx="43891200" cy="32918400"/>
          </a:xfrm>
          <a:prstGeom prst="rect">
            <a:avLst/>
          </a:prstGeom>
        </p:spPr>
      </p:pic>
      <p:sp>
        <p:nvSpPr>
          <p:cNvPr id="3" name="Shape 0"/>
          <p:cNvSpPr/>
          <p:nvPr/>
        </p:nvSpPr>
        <p:spPr>
          <a:xfrm>
            <a:off x="0" y="0"/>
            <a:ext cx="43891200" cy="109728"/>
          </a:xfrm>
          <a:prstGeom prst="rect">
            <a:avLst/>
          </a:prstGeom>
          <a:solidFill>
            <a:srgbClr val="16A085"/>
          </a:solidFill>
          <a:ln/>
        </p:spPr>
      </p:sp>
      <p:sp>
        <p:nvSpPr>
          <p:cNvPr id="4" name="Shape 1"/>
          <p:cNvSpPr/>
          <p:nvPr/>
        </p:nvSpPr>
        <p:spPr>
          <a:xfrm>
            <a:off x="0" y="32808672"/>
            <a:ext cx="43891200" cy="109728"/>
          </a:xfrm>
          <a:prstGeom prst="rect">
            <a:avLst/>
          </a:prstGeom>
          <a:solidFill>
            <a:srgbClr val="16A085"/>
          </a:solidFill>
          <a:ln/>
        </p:spPr>
      </p:sp>
      <p:sp>
        <p:nvSpPr>
          <p:cNvPr id="5" name="Shape 2"/>
          <p:cNvSpPr/>
          <p:nvPr/>
        </p:nvSpPr>
        <p:spPr>
          <a:xfrm>
            <a:off x="914400" y="731520"/>
            <a:ext cx="42062400" cy="4114800"/>
          </a:xfrm>
          <a:prstGeom prst="roundRect">
            <a:avLst>
              <a:gd name="adj" fmla="val 3333"/>
            </a:avLst>
          </a:prstGeom>
          <a:solidFill>
            <a:srgbClr val="121E36"/>
          </a:solidFill>
          <a:ln w="25400">
            <a:solidFill>
              <a:srgbClr val="16A085"/>
            </a:solidFill>
            <a:prstDash val="solid"/>
          </a:ln>
        </p:spPr>
      </p:sp>
      <p:sp>
        <p:nvSpPr>
          <p:cNvPr id="6" name="Text 3"/>
          <p:cNvSpPr/>
          <p:nvPr/>
        </p:nvSpPr>
        <p:spPr>
          <a:xfrm>
            <a:off x="1371600" y="914400"/>
            <a:ext cx="32004000" cy="2286000"/>
          </a:xfrm>
          <a:prstGeom prst="rect">
            <a:avLst/>
          </a:prstGeom>
          <a:noFill/>
          <a:ln/>
        </p:spPr>
        <p:txBody>
          <a:bodyPr wrap="square" rtlCol="0" anchor="ctr"/>
          <a:lstStyle/>
          <a:p>
            <a:pPr indent="0" marL="0">
              <a:lnSpc>
                <a:spcPct val="115000"/>
              </a:lnSpc>
              <a:buNone/>
            </a:pPr>
            <a:r>
              <a:rPr lang="en-US" sz="6000" b="1" dirty="0">
                <a:solidFill>
                  <a:srgbClr val="FFFFFF"/>
                </a:solidFill>
                <a:latin typeface="Arial" pitchFamily="34" charset="0"/>
                <a:ea typeface="Arial" pitchFamily="34" charset="-122"/>
                <a:cs typeface="Arial" pitchFamily="34" charset="-120"/>
              </a:rPr>
              <a:t>Emergent Room Acoustic Resonance Analysis via</a:t>
            </a:r>
            <a:endParaRPr lang="en-US" sz="6000" dirty="0"/>
          </a:p>
          <a:p>
            <a:pPr indent="0" marL="0">
              <a:lnSpc>
                <a:spcPct val="115000"/>
              </a:lnSpc>
              <a:buNone/>
            </a:pPr>
            <a:r>
              <a:rPr lang="en-US" sz="6000" b="1" dirty="0">
                <a:solidFill>
                  <a:srgbClr val="FFFFFF"/>
                </a:solidFill>
                <a:latin typeface="Arial" pitchFamily="34" charset="0"/>
                <a:ea typeface="Arial" pitchFamily="34" charset="-122"/>
                <a:cs typeface="Arial" pitchFamily="34" charset="-120"/>
              </a:rPr>
              <a:t>Multi-Algorithm Feedback Detection</a:t>
            </a:r>
            <a:endParaRPr lang="en-US" sz="6000" dirty="0"/>
          </a:p>
        </p:txBody>
      </p:sp>
      <p:sp>
        <p:nvSpPr>
          <p:cNvPr id="7" name="Text 4"/>
          <p:cNvSpPr/>
          <p:nvPr/>
        </p:nvSpPr>
        <p:spPr>
          <a:xfrm>
            <a:off x="1371600" y="3200400"/>
            <a:ext cx="10972800" cy="640080"/>
          </a:xfrm>
          <a:prstGeom prst="rect">
            <a:avLst/>
          </a:prstGeom>
          <a:noFill/>
          <a:ln/>
        </p:spPr>
        <p:txBody>
          <a:bodyPr wrap="square" rtlCol="0" anchor="ctr"/>
          <a:lstStyle/>
          <a:p>
            <a:pPr indent="0" marL="0">
              <a:buNone/>
            </a:pPr>
            <a:r>
              <a:rPr lang="en-US" sz="2800" b="1" dirty="0">
                <a:solidFill>
                  <a:srgbClr val="D4A843"/>
                </a:solidFill>
                <a:latin typeface="Arial" pitchFamily="34" charset="0"/>
                <a:ea typeface="Arial" pitchFamily="34" charset="-122"/>
                <a:cs typeface="Arial" pitchFamily="34" charset="-120"/>
              </a:rPr>
              <a:t>Don Wells</a:t>
            </a:r>
            <a:endParaRPr lang="en-US" sz="2800" dirty="0"/>
          </a:p>
        </p:txBody>
      </p:sp>
      <p:sp>
        <p:nvSpPr>
          <p:cNvPr id="8" name="Text 5"/>
          <p:cNvSpPr/>
          <p:nvPr/>
        </p:nvSpPr>
        <p:spPr>
          <a:xfrm>
            <a:off x="1371600" y="3840480"/>
            <a:ext cx="18288000" cy="457200"/>
          </a:xfrm>
          <a:prstGeom prst="rect">
            <a:avLst/>
          </a:prstGeom>
          <a:noFill/>
          <a:ln/>
        </p:spPr>
        <p:txBody>
          <a:bodyPr wrap="square" rtlCol="0" anchor="ctr"/>
          <a:lstStyle/>
          <a:p>
            <a:pPr indent="0" marL="0">
              <a:buNone/>
            </a:pPr>
            <a:r>
              <a:rPr lang="en-US" sz="2200" dirty="0">
                <a:solidFill>
                  <a:srgbClr val="8B949E"/>
                </a:solidFill>
                <a:latin typeface="Arial" pitchFamily="34" charset="0"/>
                <a:ea typeface="Arial" pitchFamily="34" charset="-122"/>
                <a:cs typeface="Arial" pitchFamily="34" charset="-120"/>
              </a:rPr>
              <a:t>Kill The Ring Project  •  killthering.com  •  March 2026</a:t>
            </a:r>
            <a:endParaRPr lang="en-US" sz="2200" dirty="0"/>
          </a:p>
        </p:txBody>
      </p:sp>
      <p:sp>
        <p:nvSpPr>
          <p:cNvPr id="9" name="Shape 6"/>
          <p:cNvSpPr/>
          <p:nvPr/>
        </p:nvSpPr>
        <p:spPr>
          <a:xfrm>
            <a:off x="32918400" y="1097280"/>
            <a:ext cx="9144000" cy="3200400"/>
          </a:xfrm>
          <a:prstGeom prst="roundRect">
            <a:avLst>
              <a:gd name="adj" fmla="val 4286"/>
            </a:avLst>
          </a:prstGeom>
          <a:solidFill>
            <a:srgbClr val="1A2230"/>
          </a:solidFill>
          <a:ln w="25400">
            <a:solidFill>
              <a:srgbClr val="D4A843"/>
            </a:solidFill>
            <a:prstDash val="solid"/>
          </a:ln>
        </p:spPr>
      </p:sp>
      <p:sp>
        <p:nvSpPr>
          <p:cNvPr id="10" name="Text 7"/>
          <p:cNvSpPr/>
          <p:nvPr/>
        </p:nvSpPr>
        <p:spPr>
          <a:xfrm>
            <a:off x="33192720" y="1280160"/>
            <a:ext cx="8595360" cy="548640"/>
          </a:xfrm>
          <a:prstGeom prst="rect">
            <a:avLst/>
          </a:prstGeom>
          <a:noFill/>
          <a:ln/>
        </p:spPr>
        <p:txBody>
          <a:bodyPr wrap="square" rtlCol="0" anchor="ctr"/>
          <a:lstStyle/>
          <a:p>
            <a:pPr algn="ctr" indent="0" marL="0">
              <a:buNone/>
            </a:pPr>
            <a:r>
              <a:rPr lang="en-US" sz="2200" b="1" dirty="0">
                <a:solidFill>
                  <a:srgbClr val="D4A843"/>
                </a:solidFill>
                <a:latin typeface="Arial" pitchFamily="34" charset="0"/>
                <a:ea typeface="Arial" pitchFamily="34" charset="-122"/>
                <a:cs typeface="Arial" pitchFamily="34" charset="-120"/>
              </a:rPr>
              <a:t>KEY RESULT</a:t>
            </a:r>
            <a:endParaRPr lang="en-US" sz="2200" dirty="0"/>
          </a:p>
        </p:txBody>
      </p:sp>
      <p:sp>
        <p:nvSpPr>
          <p:cNvPr id="11" name="Text 8"/>
          <p:cNvSpPr/>
          <p:nvPr/>
        </p:nvSpPr>
        <p:spPr>
          <a:xfrm>
            <a:off x="33192720" y="1920240"/>
            <a:ext cx="8595360" cy="731520"/>
          </a:xfrm>
          <a:prstGeom prst="rect">
            <a:avLst/>
          </a:prstGeom>
          <a:noFill/>
          <a:ln/>
        </p:spPr>
        <p:txBody>
          <a:bodyPr wrap="square" rtlCol="0" anchor="ctr"/>
          <a:lstStyle/>
          <a:p>
            <a:pPr algn="ctr" indent="0" marL="0">
              <a:buNone/>
            </a:pPr>
            <a:r>
              <a:rPr lang="en-US" sz="3000" b="1" dirty="0">
                <a:solidFill>
                  <a:srgbClr val="16A085"/>
                </a:solidFill>
                <a:latin typeface="Courier New" pitchFamily="34" charset="0"/>
                <a:ea typeface="Courier New" pitchFamily="34" charset="-122"/>
                <a:cs typeface="Courier New" pitchFamily="34" charset="-120"/>
              </a:rPr>
              <a:t>‖S_fb − S_rm‖₂ → 0</a:t>
            </a:r>
            <a:endParaRPr lang="en-US" sz="3000" dirty="0"/>
          </a:p>
        </p:txBody>
      </p:sp>
      <p:sp>
        <p:nvSpPr>
          <p:cNvPr id="12" name="Text 9"/>
          <p:cNvSpPr/>
          <p:nvPr/>
        </p:nvSpPr>
        <p:spPr>
          <a:xfrm>
            <a:off x="33192720" y="2743200"/>
            <a:ext cx="8595360" cy="1280160"/>
          </a:xfrm>
          <a:prstGeom prst="rect">
            <a:avLst/>
          </a:prstGeom>
          <a:noFill/>
          <a:ln/>
        </p:spPr>
        <p:txBody>
          <a:bodyPr wrap="square" rtlCol="0" anchor="ctr"/>
          <a:lstStyle/>
          <a:p>
            <a:pPr algn="ctr" indent="0" marL="0">
              <a:lnSpc>
                <a:spcPct val="130000"/>
              </a:lnSpc>
              <a:buNone/>
            </a:pPr>
            <a:r>
              <a:rPr lang="en-US" sz="1800" dirty="0">
                <a:solidFill>
                  <a:srgbClr val="E0E6ED"/>
                </a:solidFill>
                <a:latin typeface="Arial" pitchFamily="34" charset="0"/>
                <a:ea typeface="Arial" pitchFamily="34" charset="-122"/>
                <a:cs typeface="Arial" pitchFamily="34" charset="-120"/>
              </a:rPr>
              <a:t>Room resonances and feedback are</a:t>
            </a:r>
            <a:endParaRPr lang="en-US" sz="1800" dirty="0"/>
          </a:p>
          <a:p>
            <a:pPr algn="ctr" indent="0" marL="0">
              <a:lnSpc>
                <a:spcPct val="130000"/>
              </a:lnSpc>
              <a:buNone/>
            </a:pPr>
            <a:r>
              <a:rPr lang="en-US" sz="1800" dirty="0">
                <a:solidFill>
                  <a:srgbClr val="E0E6ED"/>
                </a:solidFill>
                <a:latin typeface="Arial" pitchFamily="34" charset="0"/>
                <a:ea typeface="Arial" pitchFamily="34" charset="-122"/>
                <a:cs typeface="Arial" pitchFamily="34" charset="-120"/>
              </a:rPr>
              <a:t>spectrally indistinguishable to all</a:t>
            </a:r>
            <a:endParaRPr lang="en-US" sz="1800" dirty="0"/>
          </a:p>
          <a:p>
            <a:pPr algn="ctr" indent="0" marL="0">
              <a:lnSpc>
                <a:spcPct val="130000"/>
              </a:lnSpc>
              <a:buNone/>
            </a:pPr>
            <a:r>
              <a:rPr lang="en-US" sz="1800" dirty="0">
                <a:solidFill>
                  <a:srgbClr val="E0E6ED"/>
                </a:solidFill>
                <a:latin typeface="Arial" pitchFamily="34" charset="0"/>
                <a:ea typeface="Arial" pitchFamily="34" charset="-122"/>
                <a:cs typeface="Arial" pitchFamily="34" charset="-120"/>
              </a:rPr>
              <a:t>six detection algorithms</a:t>
            </a:r>
            <a:endParaRPr lang="en-US" sz="1800" dirty="0"/>
          </a:p>
        </p:txBody>
      </p:sp>
      <p:sp>
        <p:nvSpPr>
          <p:cNvPr id="13" name="Shape 10"/>
          <p:cNvSpPr/>
          <p:nvPr/>
        </p:nvSpPr>
        <p:spPr>
          <a:xfrm>
            <a:off x="914400" y="5486400"/>
            <a:ext cx="9601200" cy="73152"/>
          </a:xfrm>
          <a:prstGeom prst="rect">
            <a:avLst/>
          </a:prstGeom>
          <a:solidFill>
            <a:srgbClr val="16A085"/>
          </a:solidFill>
          <a:ln/>
        </p:spPr>
      </p:sp>
      <p:sp>
        <p:nvSpPr>
          <p:cNvPr id="14" name="Text 11"/>
          <p:cNvSpPr/>
          <p:nvPr/>
        </p:nvSpPr>
        <p:spPr>
          <a:xfrm>
            <a:off x="914400" y="5669280"/>
            <a:ext cx="9601200" cy="640080"/>
          </a:xfrm>
          <a:prstGeom prst="rect">
            <a:avLst/>
          </a:prstGeom>
          <a:noFill/>
          <a:ln/>
        </p:spPr>
        <p:txBody>
          <a:bodyPr wrap="square" rtlCol="0" anchor="ctr"/>
          <a:lstStyle/>
          <a:p>
            <a:pPr indent="0" marL="0">
              <a:buNone/>
            </a:pPr>
            <a:r>
              <a:rPr lang="en-US" sz="3200" b="1" dirty="0">
                <a:solidFill>
                  <a:srgbClr val="16A085"/>
                </a:solidFill>
                <a:latin typeface="Arial" pitchFamily="34" charset="0"/>
                <a:ea typeface="Arial" pitchFamily="34" charset="-122"/>
                <a:cs typeface="Arial" pitchFamily="34" charset="-120"/>
              </a:rPr>
              <a:t>ABSTRACT</a:t>
            </a:r>
            <a:endParaRPr lang="en-US" sz="3200" dirty="0"/>
          </a:p>
        </p:txBody>
      </p:sp>
      <p:sp>
        <p:nvSpPr>
          <p:cNvPr id="15" name="Shape 12"/>
          <p:cNvSpPr/>
          <p:nvPr/>
        </p:nvSpPr>
        <p:spPr>
          <a:xfrm>
            <a:off x="914400" y="6400800"/>
            <a:ext cx="9601200" cy="3657600"/>
          </a:xfrm>
          <a:prstGeom prst="roundRect">
            <a:avLst>
              <a:gd name="adj" fmla="val 3750"/>
            </a:avLst>
          </a:prstGeom>
          <a:solidFill>
            <a:srgbClr val="161B22"/>
          </a:solidFill>
          <a:ln w="12700">
            <a:solidFill>
              <a:srgbClr val="30363D"/>
            </a:solidFill>
            <a:prstDash val="solid"/>
          </a:ln>
        </p:spPr>
      </p:sp>
      <p:sp>
        <p:nvSpPr>
          <p:cNvPr id="16" name="Text 13"/>
          <p:cNvSpPr/>
          <p:nvPr/>
        </p:nvSpPr>
        <p:spPr>
          <a:xfrm>
            <a:off x="1188720" y="6583680"/>
            <a:ext cx="9052560" cy="3291840"/>
          </a:xfrm>
          <a:prstGeom prst="rect">
            <a:avLst/>
          </a:prstGeom>
          <a:noFill/>
          <a:ln/>
        </p:spPr>
        <p:txBody>
          <a:bodyPr wrap="square" rtlCol="0" anchor="ctr"/>
          <a:lstStyle/>
          <a:p>
            <a:pPr indent="0" marL="0">
              <a:lnSpc>
                <a:spcPct val="135000"/>
              </a:lnSpc>
              <a:buNone/>
            </a:pPr>
            <a:r>
              <a:rPr lang="en-US" sz="1800" dirty="0">
                <a:solidFill>
                  <a:srgbClr val="E0E6ED"/>
                </a:solidFill>
                <a:latin typeface="Arial" pitchFamily="34" charset="0"/>
                <a:ea typeface="Arial" pitchFamily="34" charset="-122"/>
                <a:cs typeface="Arial" pitchFamily="34" charset="-120"/>
              </a:rPr>
              <a:t>We present the observation that a real-time acoustic feedback detection system, when operated at elevated sensitivity without an active electroacoustic feedback loop, produces EQ correction recommendations corresponding to room resonance modes. The system employs six fused detection algorithms — Magnitude Slope Deviation (MSD), phase coherence analysis, spectral flatness, comb filter pattern detection, inter-harmonic ratio (IHR), and peak-to-median ratio (PTMR) — augmented by a neural network meta-model. We demonstrate that room resonances produce spectral signatures physically indistinguishable from acoustic feedback to these algorithms, enabling real-time room analysis requiring no test signal, no calibration microphone, and no prior room configuration.</a:t>
            </a:r>
            <a:endParaRPr lang="en-US" sz="1800" dirty="0"/>
          </a:p>
        </p:txBody>
      </p:sp>
      <p:sp>
        <p:nvSpPr>
          <p:cNvPr id="17" name="Shape 14"/>
          <p:cNvSpPr/>
          <p:nvPr/>
        </p:nvSpPr>
        <p:spPr>
          <a:xfrm>
            <a:off x="914400" y="10332720"/>
            <a:ext cx="9601200" cy="73152"/>
          </a:xfrm>
          <a:prstGeom prst="rect">
            <a:avLst/>
          </a:prstGeom>
          <a:solidFill>
            <a:srgbClr val="E74C3C"/>
          </a:solidFill>
          <a:ln/>
        </p:spPr>
      </p:sp>
      <p:sp>
        <p:nvSpPr>
          <p:cNvPr id="18" name="Text 15"/>
          <p:cNvSpPr/>
          <p:nvPr/>
        </p:nvSpPr>
        <p:spPr>
          <a:xfrm>
            <a:off x="914400" y="10515600"/>
            <a:ext cx="9601200" cy="640080"/>
          </a:xfrm>
          <a:prstGeom prst="rect">
            <a:avLst/>
          </a:prstGeom>
          <a:noFill/>
          <a:ln/>
        </p:spPr>
        <p:txBody>
          <a:bodyPr wrap="square" rtlCol="0" anchor="ctr"/>
          <a:lstStyle/>
          <a:p>
            <a:pPr indent="0" marL="0">
              <a:buNone/>
            </a:pPr>
            <a:r>
              <a:rPr lang="en-US" sz="3200" b="1" dirty="0">
                <a:solidFill>
                  <a:srgbClr val="E74C3C"/>
                </a:solidFill>
                <a:latin typeface="Arial" pitchFamily="34" charset="0"/>
                <a:ea typeface="Arial" pitchFamily="34" charset="-122"/>
                <a:cs typeface="Arial" pitchFamily="34" charset="-120"/>
              </a:rPr>
              <a:t>THE PROBLEM</a:t>
            </a:r>
            <a:endParaRPr lang="en-US" sz="3200" dirty="0"/>
          </a:p>
        </p:txBody>
      </p:sp>
      <p:sp>
        <p:nvSpPr>
          <p:cNvPr id="19" name="Shape 16"/>
          <p:cNvSpPr/>
          <p:nvPr/>
        </p:nvSpPr>
        <p:spPr>
          <a:xfrm>
            <a:off x="914400" y="11247120"/>
            <a:ext cx="9601200" cy="5029200"/>
          </a:xfrm>
          <a:prstGeom prst="roundRect">
            <a:avLst>
              <a:gd name="adj" fmla="val 2727"/>
            </a:avLst>
          </a:prstGeom>
          <a:solidFill>
            <a:srgbClr val="161B22"/>
          </a:solidFill>
          <a:ln w="12700">
            <a:solidFill>
              <a:srgbClr val="30363D"/>
            </a:solidFill>
            <a:prstDash val="solid"/>
          </a:ln>
        </p:spPr>
      </p:sp>
      <p:sp>
        <p:nvSpPr>
          <p:cNvPr id="20" name="Text 17"/>
          <p:cNvSpPr/>
          <p:nvPr/>
        </p:nvSpPr>
        <p:spPr>
          <a:xfrm>
            <a:off x="1188720" y="11430000"/>
            <a:ext cx="9052560" cy="4572000"/>
          </a:xfrm>
          <a:prstGeom prst="rect">
            <a:avLst/>
          </a:prstGeom>
          <a:noFill/>
          <a:ln/>
        </p:spPr>
        <p:txBody>
          <a:bodyPr wrap="square" rtlCol="0" anchor="ctr"/>
          <a:lstStyle/>
          <a:p>
            <a:pPr indent="0" marL="0">
              <a:lnSpc>
                <a:spcPct val="130000"/>
              </a:lnSpc>
              <a:buNone/>
            </a:pPr>
            <a:r>
              <a:rPr lang="en-US" sz="1900" dirty="0">
                <a:solidFill>
                  <a:srgbClr val="E0E6ED"/>
                </a:solidFill>
                <a:latin typeface="Arial" pitchFamily="34" charset="0"/>
                <a:ea typeface="Arial" pitchFamily="34" charset="-122"/>
                <a:cs typeface="Arial" pitchFamily="34" charset="-120"/>
              </a:rPr>
              <a:t>Professional room analyzers (Smaart, REW, Dirac Live) require:</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Calibrated measurement microphone ($200+)</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Test signal generator (pink noise, swept sine)</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Empty venue (no audience)</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15-30 minutes setup time</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Specialized software ($400-$800+)</a:t>
            </a:r>
            <a:endParaRPr lang="en-US" sz="1900" dirty="0"/>
          </a:p>
          <a:p>
            <a:pPr indent="0" marL="0">
              <a:lnSpc>
                <a:spcPct val="130000"/>
              </a:lnSpc>
              <a:buNone/>
            </a:pP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No existing tool can analyze room acoustics:</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In real-time during live performance</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With audience present</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Using ambient sound as excitation</a:t>
            </a:r>
            <a:endParaRPr lang="en-US" sz="1900" dirty="0"/>
          </a:p>
          <a:p>
            <a:pPr indent="0" marL="0">
              <a:lnSpc>
                <a:spcPct val="130000"/>
              </a:lnSpc>
              <a:buNone/>
            </a:pPr>
            <a:r>
              <a:rPr lang="en-US" sz="1900" dirty="0">
                <a:solidFill>
                  <a:srgbClr val="E0E6ED"/>
                </a:solidFill>
                <a:latin typeface="Arial" pitchFamily="34" charset="0"/>
                <a:ea typeface="Arial" pitchFamily="34" charset="-122"/>
                <a:cs typeface="Arial" pitchFamily="34" charset="-120"/>
              </a:rPr>
              <a:t>   • With zero setup or calibration</a:t>
            </a:r>
            <a:endParaRPr lang="en-US" sz="1900" dirty="0"/>
          </a:p>
        </p:txBody>
      </p:sp>
      <p:sp>
        <p:nvSpPr>
          <p:cNvPr id="21" name="Shape 18"/>
          <p:cNvSpPr/>
          <p:nvPr/>
        </p:nvSpPr>
        <p:spPr>
          <a:xfrm>
            <a:off x="914400" y="16550640"/>
            <a:ext cx="9601200" cy="73152"/>
          </a:xfrm>
          <a:prstGeom prst="rect">
            <a:avLst/>
          </a:prstGeom>
          <a:solidFill>
            <a:srgbClr val="9B59B6"/>
          </a:solidFill>
          <a:ln/>
        </p:spPr>
      </p:sp>
      <p:sp>
        <p:nvSpPr>
          <p:cNvPr id="22" name="Text 19"/>
          <p:cNvSpPr/>
          <p:nvPr/>
        </p:nvSpPr>
        <p:spPr>
          <a:xfrm>
            <a:off x="914400" y="16733520"/>
            <a:ext cx="9601200" cy="640080"/>
          </a:xfrm>
          <a:prstGeom prst="rect">
            <a:avLst/>
          </a:prstGeom>
          <a:noFill/>
          <a:ln/>
        </p:spPr>
        <p:txBody>
          <a:bodyPr wrap="square" rtlCol="0" anchor="ctr"/>
          <a:lstStyle/>
          <a:p>
            <a:pPr indent="0" marL="0">
              <a:buNone/>
            </a:pPr>
            <a:r>
              <a:rPr lang="en-US" sz="3200" b="1" dirty="0">
                <a:solidFill>
                  <a:srgbClr val="9B59B6"/>
                </a:solidFill>
                <a:latin typeface="Arial" pitchFamily="34" charset="0"/>
                <a:ea typeface="Arial" pitchFamily="34" charset="-122"/>
                <a:cs typeface="Arial" pitchFamily="34" charset="-120"/>
              </a:rPr>
              <a:t>PHYSICAL EQUIVALENCE</a:t>
            </a:r>
            <a:endParaRPr lang="en-US" sz="3200" dirty="0"/>
          </a:p>
        </p:txBody>
      </p:sp>
      <p:sp>
        <p:nvSpPr>
          <p:cNvPr id="23" name="Shape 20"/>
          <p:cNvSpPr/>
          <p:nvPr/>
        </p:nvSpPr>
        <p:spPr>
          <a:xfrm>
            <a:off x="914400" y="17465040"/>
            <a:ext cx="9601200" cy="6858000"/>
          </a:xfrm>
          <a:prstGeom prst="roundRect">
            <a:avLst>
              <a:gd name="adj" fmla="val 2000"/>
            </a:avLst>
          </a:prstGeom>
          <a:solidFill>
            <a:srgbClr val="161B22"/>
          </a:solidFill>
          <a:ln w="12700">
            <a:solidFill>
              <a:srgbClr val="30363D"/>
            </a:solidFill>
            <a:prstDash val="solid"/>
          </a:ln>
        </p:spPr>
      </p:sp>
      <p:sp>
        <p:nvSpPr>
          <p:cNvPr id="24" name="Shape 21"/>
          <p:cNvSpPr/>
          <p:nvPr/>
        </p:nvSpPr>
        <p:spPr>
          <a:xfrm>
            <a:off x="1188720" y="17739360"/>
            <a:ext cx="4389120" cy="2926080"/>
          </a:xfrm>
          <a:prstGeom prst="roundRect">
            <a:avLst>
              <a:gd name="adj" fmla="val 4688"/>
            </a:avLst>
          </a:prstGeom>
          <a:solidFill>
            <a:srgbClr val="161B22"/>
          </a:solidFill>
          <a:ln w="12700">
            <a:solidFill>
              <a:srgbClr val="3498DB"/>
            </a:solidFill>
            <a:prstDash val="solid"/>
          </a:ln>
        </p:spPr>
      </p:sp>
      <p:sp>
        <p:nvSpPr>
          <p:cNvPr id="25" name="Shape 22"/>
          <p:cNvSpPr/>
          <p:nvPr/>
        </p:nvSpPr>
        <p:spPr>
          <a:xfrm>
            <a:off x="1188720" y="17739360"/>
            <a:ext cx="4389120" cy="73152"/>
          </a:xfrm>
          <a:prstGeom prst="rect">
            <a:avLst/>
          </a:prstGeom>
          <a:solidFill>
            <a:srgbClr val="3498DB"/>
          </a:solidFill>
          <a:ln/>
        </p:spPr>
      </p:sp>
      <p:sp>
        <p:nvSpPr>
          <p:cNvPr id="26" name="Text 23"/>
          <p:cNvSpPr/>
          <p:nvPr/>
        </p:nvSpPr>
        <p:spPr>
          <a:xfrm>
            <a:off x="1371600" y="17922240"/>
            <a:ext cx="4023360" cy="457200"/>
          </a:xfrm>
          <a:prstGeom prst="rect">
            <a:avLst/>
          </a:prstGeom>
          <a:noFill/>
          <a:ln/>
        </p:spPr>
        <p:txBody>
          <a:bodyPr wrap="square" rtlCol="0" anchor="ctr"/>
          <a:lstStyle/>
          <a:p>
            <a:pPr indent="0" marL="0">
              <a:buNone/>
            </a:pPr>
            <a:r>
              <a:rPr lang="en-US" sz="1800" b="1" dirty="0">
                <a:solidFill>
                  <a:srgbClr val="3498DB"/>
                </a:solidFill>
                <a:latin typeface="Arial" pitchFamily="34" charset="0"/>
                <a:ea typeface="Arial" pitchFamily="34" charset="-122"/>
                <a:cs typeface="Arial" pitchFamily="34" charset="-120"/>
              </a:rPr>
              <a:t>ACOUSTIC FEEDBACK</a:t>
            </a:r>
            <a:endParaRPr lang="en-US" sz="1800" dirty="0"/>
          </a:p>
        </p:txBody>
      </p:sp>
      <p:sp>
        <p:nvSpPr>
          <p:cNvPr id="27" name="Text 24"/>
          <p:cNvSpPr/>
          <p:nvPr/>
        </p:nvSpPr>
        <p:spPr>
          <a:xfrm>
            <a:off x="1371600" y="18470880"/>
            <a:ext cx="4023360" cy="2011680"/>
          </a:xfrm>
          <a:prstGeom prst="rect">
            <a:avLst/>
          </a:prstGeom>
          <a:noFill/>
          <a:ln/>
        </p:spPr>
        <p:txBody>
          <a:bodyPr wrap="square" rtlCol="0" anchor="ctr"/>
          <a:lstStyle/>
          <a:p>
            <a:pPr indent="0" marL="0">
              <a:lnSpc>
                <a:spcPct val="125000"/>
              </a:lnSpc>
              <a:buNone/>
            </a:pPr>
            <a:r>
              <a:rPr lang="en-US" sz="1600" dirty="0">
                <a:solidFill>
                  <a:srgbClr val="E0E6ED"/>
                </a:solidFill>
                <a:latin typeface="Arial" pitchFamily="34" charset="0"/>
                <a:ea typeface="Arial" pitchFamily="34" charset="-122"/>
                <a:cs typeface="Arial" pitchFamily="34" charset="-120"/>
              </a:rPr>
              <a:t>• Sustained by electroacoustic loop</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(mic → amp → speaker → air → mic)</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Persistent narrowband peak</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Stable magnitude (low MSD)</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High phase coherence</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High Q factor</a:t>
            </a:r>
            <a:endParaRPr lang="en-US" sz="1600" dirty="0"/>
          </a:p>
        </p:txBody>
      </p:sp>
      <p:sp>
        <p:nvSpPr>
          <p:cNvPr id="28" name="Shape 25"/>
          <p:cNvSpPr/>
          <p:nvPr/>
        </p:nvSpPr>
        <p:spPr>
          <a:xfrm>
            <a:off x="5852160" y="17739360"/>
            <a:ext cx="4389120" cy="2926080"/>
          </a:xfrm>
          <a:prstGeom prst="roundRect">
            <a:avLst>
              <a:gd name="adj" fmla="val 4688"/>
            </a:avLst>
          </a:prstGeom>
          <a:solidFill>
            <a:srgbClr val="161B22"/>
          </a:solidFill>
          <a:ln w="12700">
            <a:solidFill>
              <a:srgbClr val="D4A843"/>
            </a:solidFill>
            <a:prstDash val="solid"/>
          </a:ln>
        </p:spPr>
      </p:sp>
      <p:sp>
        <p:nvSpPr>
          <p:cNvPr id="29" name="Shape 26"/>
          <p:cNvSpPr/>
          <p:nvPr/>
        </p:nvSpPr>
        <p:spPr>
          <a:xfrm>
            <a:off x="5852160" y="17739360"/>
            <a:ext cx="4389120" cy="73152"/>
          </a:xfrm>
          <a:prstGeom prst="rect">
            <a:avLst/>
          </a:prstGeom>
          <a:solidFill>
            <a:srgbClr val="D4A843"/>
          </a:solidFill>
          <a:ln/>
        </p:spPr>
      </p:sp>
      <p:sp>
        <p:nvSpPr>
          <p:cNvPr id="30" name="Text 27"/>
          <p:cNvSpPr/>
          <p:nvPr/>
        </p:nvSpPr>
        <p:spPr>
          <a:xfrm>
            <a:off x="6035040" y="17922240"/>
            <a:ext cx="4023360" cy="457200"/>
          </a:xfrm>
          <a:prstGeom prst="rect">
            <a:avLst/>
          </a:prstGeom>
          <a:noFill/>
          <a:ln/>
        </p:spPr>
        <p:txBody>
          <a:bodyPr wrap="square" rtlCol="0" anchor="ctr"/>
          <a:lstStyle/>
          <a:p>
            <a:pPr indent="0" marL="0">
              <a:buNone/>
            </a:pPr>
            <a:r>
              <a:rPr lang="en-US" sz="1800" b="1" dirty="0">
                <a:solidFill>
                  <a:srgbClr val="D4A843"/>
                </a:solidFill>
                <a:latin typeface="Arial" pitchFamily="34" charset="0"/>
                <a:ea typeface="Arial" pitchFamily="34" charset="-122"/>
                <a:cs typeface="Arial" pitchFamily="34" charset="-120"/>
              </a:rPr>
              <a:t>ROOM RESONANCE</a:t>
            </a:r>
            <a:endParaRPr lang="en-US" sz="1800" dirty="0"/>
          </a:p>
        </p:txBody>
      </p:sp>
      <p:sp>
        <p:nvSpPr>
          <p:cNvPr id="31" name="Text 28"/>
          <p:cNvSpPr/>
          <p:nvPr/>
        </p:nvSpPr>
        <p:spPr>
          <a:xfrm>
            <a:off x="6035040" y="18470880"/>
            <a:ext cx="4023360" cy="2011680"/>
          </a:xfrm>
          <a:prstGeom prst="rect">
            <a:avLst/>
          </a:prstGeom>
          <a:noFill/>
          <a:ln/>
        </p:spPr>
        <p:txBody>
          <a:bodyPr wrap="square" rtlCol="0" anchor="ctr"/>
          <a:lstStyle/>
          <a:p>
            <a:pPr indent="0" marL="0">
              <a:lnSpc>
                <a:spcPct val="125000"/>
              </a:lnSpc>
              <a:buNone/>
            </a:pPr>
            <a:r>
              <a:rPr lang="en-US" sz="1600" dirty="0">
                <a:solidFill>
                  <a:srgbClr val="E0E6ED"/>
                </a:solidFill>
                <a:latin typeface="Arial" pitchFamily="34" charset="0"/>
                <a:ea typeface="Arial" pitchFamily="34" charset="-122"/>
                <a:cs typeface="Arial" pitchFamily="34" charset="-120"/>
              </a:rPr>
              <a:t>• Sustained by wall reflections</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(standing wave in enclosure)</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Persistent narrowband peak</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Stable magnitude (low MSD)</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High phase coherence</a:t>
            </a:r>
            <a:endParaRPr lang="en-US" sz="1600" dirty="0"/>
          </a:p>
          <a:p>
            <a:pPr indent="0" marL="0">
              <a:lnSpc>
                <a:spcPct val="125000"/>
              </a:lnSpc>
              <a:buNone/>
            </a:pPr>
            <a:r>
              <a:rPr lang="en-US" sz="1600" dirty="0">
                <a:solidFill>
                  <a:srgbClr val="E0E6ED"/>
                </a:solidFill>
                <a:latin typeface="Arial" pitchFamily="34" charset="0"/>
                <a:ea typeface="Arial" pitchFamily="34" charset="-122"/>
                <a:cs typeface="Arial" pitchFamily="34" charset="-120"/>
              </a:rPr>
              <a:t>• High Q factor</a:t>
            </a:r>
            <a:endParaRPr lang="en-US" sz="1600" dirty="0"/>
          </a:p>
        </p:txBody>
      </p:sp>
      <p:sp>
        <p:nvSpPr>
          <p:cNvPr id="32" name="Text 29"/>
          <p:cNvSpPr/>
          <p:nvPr/>
        </p:nvSpPr>
        <p:spPr>
          <a:xfrm>
            <a:off x="5120640" y="18745200"/>
            <a:ext cx="914400" cy="914400"/>
          </a:xfrm>
          <a:prstGeom prst="rect">
            <a:avLst/>
          </a:prstGeom>
          <a:noFill/>
          <a:ln/>
        </p:spPr>
        <p:txBody>
          <a:bodyPr wrap="square" rtlCol="0" anchor="ctr"/>
          <a:lstStyle/>
          <a:p>
            <a:pPr algn="ctr" indent="0" marL="0">
              <a:buNone/>
            </a:pPr>
            <a:r>
              <a:rPr lang="en-US" sz="4800" b="1" dirty="0">
                <a:solidFill>
                  <a:srgbClr val="16A085"/>
                </a:solidFill>
                <a:latin typeface="Arial" pitchFamily="34" charset="0"/>
                <a:ea typeface="Arial" pitchFamily="34" charset="-122"/>
                <a:cs typeface="Arial" pitchFamily="34" charset="-120"/>
              </a:rPr>
              <a:t>=</a:t>
            </a:r>
            <a:endParaRPr lang="en-US" sz="4800" dirty="0"/>
          </a:p>
        </p:txBody>
      </p:sp>
      <p:sp>
        <p:nvSpPr>
          <p:cNvPr id="33" name="Text 30"/>
          <p:cNvSpPr/>
          <p:nvPr/>
        </p:nvSpPr>
        <p:spPr>
          <a:xfrm>
            <a:off x="1188720" y="20848320"/>
            <a:ext cx="9052560" cy="1097280"/>
          </a:xfrm>
          <a:prstGeom prst="rect">
            <a:avLst/>
          </a:prstGeom>
          <a:noFill/>
          <a:ln/>
        </p:spPr>
        <p:txBody>
          <a:bodyPr wrap="square" rtlCol="0" anchor="ctr"/>
          <a:lstStyle/>
          <a:p>
            <a:pPr algn="ctr" indent="0" marL="0">
              <a:lnSpc>
                <a:spcPct val="130000"/>
              </a:lnSpc>
              <a:buNone/>
            </a:pPr>
            <a:r>
              <a:rPr lang="en-US" sz="1700" i="1" dirty="0">
                <a:solidFill>
                  <a:srgbClr val="16A085"/>
                </a:solidFill>
                <a:latin typeface="Arial" pitchFamily="34" charset="0"/>
                <a:ea typeface="Arial" pitchFamily="34" charset="-122"/>
                <a:cs typeface="Arial" pitchFamily="34" charset="-120"/>
              </a:rPr>
              <a:t>The only difference is the sustaining mechanism — invisible to spectral analysis.</a:t>
            </a:r>
            <a:endParaRPr lang="en-US" sz="1700" dirty="0"/>
          </a:p>
          <a:p>
            <a:pPr algn="ctr" indent="0" marL="0">
              <a:lnSpc>
                <a:spcPct val="130000"/>
              </a:lnSpc>
              <a:buNone/>
            </a:pPr>
            <a:r>
              <a:rPr lang="en-US" sz="1700" i="1" dirty="0">
                <a:solidFill>
                  <a:srgbClr val="16A085"/>
                </a:solidFill>
                <a:latin typeface="Arial" pitchFamily="34" charset="0"/>
                <a:ea typeface="Arial" pitchFamily="34" charset="-122"/>
                <a:cs typeface="Arial" pitchFamily="34" charset="-120"/>
              </a:rPr>
              <a:t>Both satisfy identical spectral stability criteria for all six detection algorithms.</a:t>
            </a:r>
            <a:endParaRPr lang="en-US" sz="1700" dirty="0"/>
          </a:p>
        </p:txBody>
      </p:sp>
      <p:sp>
        <p:nvSpPr>
          <p:cNvPr id="34" name="Shape 31"/>
          <p:cNvSpPr/>
          <p:nvPr/>
        </p:nvSpPr>
        <p:spPr>
          <a:xfrm>
            <a:off x="1188720" y="22128480"/>
            <a:ext cx="9052560" cy="1645920"/>
          </a:xfrm>
          <a:prstGeom prst="roundRect">
            <a:avLst>
              <a:gd name="adj" fmla="val 8333"/>
            </a:avLst>
          </a:prstGeom>
          <a:solidFill>
            <a:srgbClr val="1C2128"/>
          </a:solidFill>
          <a:ln w="12700">
            <a:solidFill>
              <a:srgbClr val="30363D"/>
            </a:solidFill>
            <a:prstDash val="solid"/>
          </a:ln>
        </p:spPr>
      </p:sp>
      <p:sp>
        <p:nvSpPr>
          <p:cNvPr id="35" name="Text 32"/>
          <p:cNvSpPr/>
          <p:nvPr/>
        </p:nvSpPr>
        <p:spPr>
          <a:xfrm>
            <a:off x="1371600" y="22219920"/>
            <a:ext cx="8686800" cy="457200"/>
          </a:xfrm>
          <a:prstGeom prst="rect">
            <a:avLst/>
          </a:prstGeom>
          <a:noFill/>
          <a:ln/>
        </p:spPr>
        <p:txBody>
          <a:bodyPr wrap="square" rtlCol="0" anchor="ctr"/>
          <a:lstStyle/>
          <a:p>
            <a:pPr indent="0" marL="0">
              <a:buNone/>
            </a:pPr>
            <a:r>
              <a:rPr lang="en-US" sz="1600" i="1" dirty="0">
                <a:solidFill>
                  <a:srgbClr val="8B949E"/>
                </a:solidFill>
                <a:latin typeface="Arial" pitchFamily="34" charset="0"/>
                <a:ea typeface="Arial" pitchFamily="34" charset="-122"/>
                <a:cs typeface="Arial" pitchFamily="34" charset="-120"/>
              </a:rPr>
              <a:t>Room Mode Eigenfrequencies (Rayleigh):</a:t>
            </a:r>
            <a:endParaRPr lang="en-US" sz="1600" dirty="0"/>
          </a:p>
        </p:txBody>
      </p:sp>
      <p:sp>
        <p:nvSpPr>
          <p:cNvPr id="36" name="Text 33"/>
          <p:cNvSpPr/>
          <p:nvPr/>
        </p:nvSpPr>
        <p:spPr>
          <a:xfrm>
            <a:off x="1371600" y="22768560"/>
            <a:ext cx="8686800" cy="457200"/>
          </a:xfrm>
          <a:prstGeom prst="rect">
            <a:avLst/>
          </a:prstGeom>
          <a:noFill/>
          <a:ln/>
        </p:spPr>
        <p:txBody>
          <a:bodyPr wrap="square" rtlCol="0" anchor="ctr"/>
          <a:lstStyle/>
          <a:p>
            <a:pPr indent="0" marL="0">
              <a:buNone/>
            </a:pPr>
            <a:r>
              <a:rPr lang="en-US" sz="2000" b="1" dirty="0">
                <a:solidFill>
                  <a:srgbClr val="16A085"/>
                </a:solidFill>
                <a:latin typeface="Courier New" pitchFamily="34" charset="0"/>
                <a:ea typeface="Courier New" pitchFamily="34" charset="-122"/>
                <a:cs typeface="Courier New" pitchFamily="34" charset="-120"/>
              </a:rPr>
              <a:t>f(nₓ,nᵧ,nz) = (c/2)√((nₓ/L)² + (nᵧ/W)² + (nz/H)²)</a:t>
            </a:r>
            <a:endParaRPr lang="en-US" sz="2000" dirty="0"/>
          </a:p>
        </p:txBody>
      </p:sp>
      <p:sp>
        <p:nvSpPr>
          <p:cNvPr id="37" name="Text 34"/>
          <p:cNvSpPr/>
          <p:nvPr/>
        </p:nvSpPr>
        <p:spPr>
          <a:xfrm>
            <a:off x="1371600" y="23225760"/>
            <a:ext cx="8686800" cy="365760"/>
          </a:xfrm>
          <a:prstGeom prst="rect">
            <a:avLst/>
          </a:prstGeom>
          <a:noFill/>
          <a:ln/>
        </p:spPr>
        <p:txBody>
          <a:bodyPr wrap="square" rtlCol="0" anchor="ctr"/>
          <a:lstStyle/>
          <a:p>
            <a:pPr indent="0" marL="0">
              <a:buNone/>
            </a:pPr>
            <a:r>
              <a:rPr lang="en-US" sz="1800" dirty="0">
                <a:solidFill>
                  <a:srgbClr val="D4A843"/>
                </a:solidFill>
                <a:latin typeface="Courier New" pitchFamily="34" charset="0"/>
                <a:ea typeface="Courier New" pitchFamily="34" charset="-122"/>
                <a:cs typeface="Courier New" pitchFamily="34" charset="-120"/>
              </a:rPr>
              <a:t>Schroeder frequency: f_S = 2000√(T₆₀/V)</a:t>
            </a:r>
            <a:endParaRPr lang="en-US" sz="1800" dirty="0"/>
          </a:p>
        </p:txBody>
      </p:sp>
      <p:sp>
        <p:nvSpPr>
          <p:cNvPr id="38" name="Shape 35"/>
          <p:cNvSpPr/>
          <p:nvPr/>
        </p:nvSpPr>
        <p:spPr>
          <a:xfrm>
            <a:off x="11430000" y="5486400"/>
            <a:ext cx="9601200" cy="73152"/>
          </a:xfrm>
          <a:prstGeom prst="rect">
            <a:avLst/>
          </a:prstGeom>
          <a:solidFill>
            <a:srgbClr val="3498DB"/>
          </a:solidFill>
          <a:ln/>
        </p:spPr>
      </p:sp>
      <p:sp>
        <p:nvSpPr>
          <p:cNvPr id="39" name="Text 36"/>
          <p:cNvSpPr/>
          <p:nvPr/>
        </p:nvSpPr>
        <p:spPr>
          <a:xfrm>
            <a:off x="11430000" y="5669280"/>
            <a:ext cx="9601200" cy="640080"/>
          </a:xfrm>
          <a:prstGeom prst="rect">
            <a:avLst/>
          </a:prstGeom>
          <a:noFill/>
          <a:ln/>
        </p:spPr>
        <p:txBody>
          <a:bodyPr wrap="square" rtlCol="0" anchor="ctr"/>
          <a:lstStyle/>
          <a:p>
            <a:pPr indent="0" marL="0">
              <a:buNone/>
            </a:pPr>
            <a:r>
              <a:rPr lang="en-US" sz="3200" b="1" dirty="0">
                <a:solidFill>
                  <a:srgbClr val="3498DB"/>
                </a:solidFill>
                <a:latin typeface="Arial" pitchFamily="34" charset="0"/>
                <a:ea typeface="Arial" pitchFamily="34" charset="-122"/>
                <a:cs typeface="Arial" pitchFamily="34" charset="-120"/>
              </a:rPr>
              <a:t>SYSTEM ARCHITECTURE</a:t>
            </a:r>
            <a:endParaRPr lang="en-US" sz="3200" dirty="0"/>
          </a:p>
        </p:txBody>
      </p:sp>
      <p:sp>
        <p:nvSpPr>
          <p:cNvPr id="40" name="Shape 37"/>
          <p:cNvSpPr/>
          <p:nvPr/>
        </p:nvSpPr>
        <p:spPr>
          <a:xfrm>
            <a:off x="11430000" y="6400800"/>
            <a:ext cx="9601200" cy="3200400"/>
          </a:xfrm>
          <a:prstGeom prst="roundRect">
            <a:avLst>
              <a:gd name="adj" fmla="val 4286"/>
            </a:avLst>
          </a:prstGeom>
          <a:solidFill>
            <a:srgbClr val="161B22"/>
          </a:solidFill>
          <a:ln w="12700">
            <a:solidFill>
              <a:srgbClr val="30363D"/>
            </a:solidFill>
            <a:prstDash val="solid"/>
          </a:ln>
        </p:spPr>
      </p:sp>
      <p:sp>
        <p:nvSpPr>
          <p:cNvPr id="41" name="Shape 38"/>
          <p:cNvSpPr/>
          <p:nvPr/>
        </p:nvSpPr>
        <p:spPr>
          <a:xfrm>
            <a:off x="11704320" y="6675120"/>
            <a:ext cx="2834640" cy="2560320"/>
          </a:xfrm>
          <a:prstGeom prst="roundRect">
            <a:avLst>
              <a:gd name="adj" fmla="val 5357"/>
            </a:avLst>
          </a:prstGeom>
          <a:solidFill>
            <a:srgbClr val="161B22"/>
          </a:solidFill>
          <a:ln w="12700">
            <a:solidFill>
              <a:srgbClr val="3498DB"/>
            </a:solidFill>
            <a:prstDash val="solid"/>
          </a:ln>
        </p:spPr>
      </p:sp>
      <p:sp>
        <p:nvSpPr>
          <p:cNvPr id="42" name="Shape 39"/>
          <p:cNvSpPr/>
          <p:nvPr/>
        </p:nvSpPr>
        <p:spPr>
          <a:xfrm>
            <a:off x="11704320" y="6675120"/>
            <a:ext cx="2834640" cy="54864"/>
          </a:xfrm>
          <a:prstGeom prst="rect">
            <a:avLst/>
          </a:prstGeom>
          <a:solidFill>
            <a:srgbClr val="3498DB"/>
          </a:solidFill>
          <a:ln/>
        </p:spPr>
      </p:sp>
      <p:sp>
        <p:nvSpPr>
          <p:cNvPr id="43" name="Text 40"/>
          <p:cNvSpPr/>
          <p:nvPr/>
        </p:nvSpPr>
        <p:spPr>
          <a:xfrm>
            <a:off x="11795760" y="6858000"/>
            <a:ext cx="2651760" cy="365760"/>
          </a:xfrm>
          <a:prstGeom prst="rect">
            <a:avLst/>
          </a:prstGeom>
          <a:noFill/>
          <a:ln/>
        </p:spPr>
        <p:txBody>
          <a:bodyPr wrap="square" rtlCol="0" anchor="ctr"/>
          <a:lstStyle/>
          <a:p>
            <a:pPr algn="ctr" indent="0" marL="0">
              <a:buNone/>
            </a:pPr>
            <a:r>
              <a:rPr lang="en-US" sz="1600" b="1" dirty="0">
                <a:solidFill>
                  <a:srgbClr val="3498DB"/>
                </a:solidFill>
                <a:latin typeface="Arial" pitchFamily="34" charset="0"/>
                <a:ea typeface="Arial" pitchFamily="34" charset="-122"/>
                <a:cs typeface="Arial" pitchFamily="34" charset="-120"/>
              </a:rPr>
              <a:t>MAIN THREAD</a:t>
            </a:r>
            <a:endParaRPr lang="en-US" sz="1600" dirty="0"/>
          </a:p>
        </p:txBody>
      </p:sp>
      <p:sp>
        <p:nvSpPr>
          <p:cNvPr id="44" name="Text 41"/>
          <p:cNvSpPr/>
          <p:nvPr/>
        </p:nvSpPr>
        <p:spPr>
          <a:xfrm>
            <a:off x="11841480" y="7315200"/>
            <a:ext cx="2560320" cy="1645920"/>
          </a:xfrm>
          <a:prstGeom prst="rect">
            <a:avLst/>
          </a:prstGeom>
          <a:noFill/>
          <a:ln/>
        </p:spPr>
        <p:txBody>
          <a:bodyPr wrap="square" rtlCol="0" anchor="ctr"/>
          <a:lstStyle/>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AudioContext → 8192-pt FFT</a:t>
            </a:r>
            <a:endParaRPr lang="en-US" sz="1500" dirty="0"/>
          </a:p>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Peak detection (50fps)</a:t>
            </a:r>
            <a:endParaRPr lang="en-US" sz="1500" dirty="0"/>
          </a:p>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Prominence + persistence</a:t>
            </a:r>
            <a:endParaRPr lang="en-US" sz="1500" dirty="0"/>
          </a:p>
        </p:txBody>
      </p:sp>
      <p:sp>
        <p:nvSpPr>
          <p:cNvPr id="45" name="Shape 42"/>
          <p:cNvSpPr/>
          <p:nvPr/>
        </p:nvSpPr>
        <p:spPr>
          <a:xfrm>
            <a:off x="14721840" y="6675120"/>
            <a:ext cx="3017520" cy="2560320"/>
          </a:xfrm>
          <a:prstGeom prst="roundRect">
            <a:avLst>
              <a:gd name="adj" fmla="val 5357"/>
            </a:avLst>
          </a:prstGeom>
          <a:solidFill>
            <a:srgbClr val="161B22"/>
          </a:solidFill>
          <a:ln w="12700">
            <a:solidFill>
              <a:srgbClr val="16A085"/>
            </a:solidFill>
            <a:prstDash val="solid"/>
          </a:ln>
        </p:spPr>
      </p:sp>
      <p:sp>
        <p:nvSpPr>
          <p:cNvPr id="46" name="Shape 43"/>
          <p:cNvSpPr/>
          <p:nvPr/>
        </p:nvSpPr>
        <p:spPr>
          <a:xfrm>
            <a:off x="14721840" y="6675120"/>
            <a:ext cx="3017520" cy="54864"/>
          </a:xfrm>
          <a:prstGeom prst="rect">
            <a:avLst/>
          </a:prstGeom>
          <a:solidFill>
            <a:srgbClr val="16A085"/>
          </a:solidFill>
          <a:ln/>
        </p:spPr>
      </p:sp>
      <p:sp>
        <p:nvSpPr>
          <p:cNvPr id="47" name="Text 44"/>
          <p:cNvSpPr/>
          <p:nvPr/>
        </p:nvSpPr>
        <p:spPr>
          <a:xfrm>
            <a:off x="14813280" y="6858000"/>
            <a:ext cx="2834640" cy="365760"/>
          </a:xfrm>
          <a:prstGeom prst="rect">
            <a:avLst/>
          </a:prstGeom>
          <a:noFill/>
          <a:ln/>
        </p:spPr>
        <p:txBody>
          <a:bodyPr wrap="square" rtlCol="0" anchor="ctr"/>
          <a:lstStyle/>
          <a:p>
            <a:pPr algn="ctr" indent="0" marL="0">
              <a:buNone/>
            </a:pPr>
            <a:r>
              <a:rPr lang="en-US" sz="1600" b="1" dirty="0">
                <a:solidFill>
                  <a:srgbClr val="16A085"/>
                </a:solidFill>
                <a:latin typeface="Arial" pitchFamily="34" charset="0"/>
                <a:ea typeface="Arial" pitchFamily="34" charset="-122"/>
                <a:cs typeface="Arial" pitchFamily="34" charset="-120"/>
              </a:rPr>
              <a:t>WEB WORKER</a:t>
            </a:r>
            <a:endParaRPr lang="en-US" sz="1600" dirty="0"/>
          </a:p>
        </p:txBody>
      </p:sp>
      <p:sp>
        <p:nvSpPr>
          <p:cNvPr id="48" name="Text 45"/>
          <p:cNvSpPr/>
          <p:nvPr/>
        </p:nvSpPr>
        <p:spPr>
          <a:xfrm>
            <a:off x="14859000" y="7315200"/>
            <a:ext cx="2743200" cy="1645920"/>
          </a:xfrm>
          <a:prstGeom prst="rect">
            <a:avLst/>
          </a:prstGeom>
          <a:noFill/>
          <a:ln/>
        </p:spPr>
        <p:txBody>
          <a:bodyPr wrap="square" rtlCol="0" anchor="ctr"/>
          <a:lstStyle/>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6 algorithms + ML model</a:t>
            </a:r>
            <a:endParaRPr lang="en-US" sz="1500" dirty="0"/>
          </a:p>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Content-adaptive fusion</a:t>
            </a:r>
            <a:endParaRPr lang="en-US" sz="1500" dirty="0"/>
          </a:p>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5 multiplicative gates</a:t>
            </a:r>
            <a:endParaRPr lang="en-US" sz="1500" dirty="0"/>
          </a:p>
        </p:txBody>
      </p:sp>
      <p:sp>
        <p:nvSpPr>
          <p:cNvPr id="49" name="Shape 46"/>
          <p:cNvSpPr/>
          <p:nvPr/>
        </p:nvSpPr>
        <p:spPr>
          <a:xfrm>
            <a:off x="17922240" y="6675120"/>
            <a:ext cx="2834640" cy="2560320"/>
          </a:xfrm>
          <a:prstGeom prst="roundRect">
            <a:avLst>
              <a:gd name="adj" fmla="val 5357"/>
            </a:avLst>
          </a:prstGeom>
          <a:solidFill>
            <a:srgbClr val="161B22"/>
          </a:solidFill>
          <a:ln w="12700">
            <a:solidFill>
              <a:srgbClr val="D4A843"/>
            </a:solidFill>
            <a:prstDash val="solid"/>
          </a:ln>
        </p:spPr>
      </p:sp>
      <p:sp>
        <p:nvSpPr>
          <p:cNvPr id="50" name="Shape 47"/>
          <p:cNvSpPr/>
          <p:nvPr/>
        </p:nvSpPr>
        <p:spPr>
          <a:xfrm>
            <a:off x="17922240" y="6675120"/>
            <a:ext cx="2834640" cy="54864"/>
          </a:xfrm>
          <a:prstGeom prst="rect">
            <a:avLst/>
          </a:prstGeom>
          <a:solidFill>
            <a:srgbClr val="D4A843"/>
          </a:solidFill>
          <a:ln/>
        </p:spPr>
      </p:sp>
      <p:sp>
        <p:nvSpPr>
          <p:cNvPr id="51" name="Text 48"/>
          <p:cNvSpPr/>
          <p:nvPr/>
        </p:nvSpPr>
        <p:spPr>
          <a:xfrm>
            <a:off x="18013680" y="6858000"/>
            <a:ext cx="2651760" cy="365760"/>
          </a:xfrm>
          <a:prstGeom prst="rect">
            <a:avLst/>
          </a:prstGeom>
          <a:noFill/>
          <a:ln/>
        </p:spPr>
        <p:txBody>
          <a:bodyPr wrap="square" rtlCol="0" anchor="ctr"/>
          <a:lstStyle/>
          <a:p>
            <a:pPr algn="ctr" indent="0" marL="0">
              <a:buNone/>
            </a:pPr>
            <a:r>
              <a:rPr lang="en-US" sz="1600" b="1" dirty="0">
                <a:solidFill>
                  <a:srgbClr val="D4A843"/>
                </a:solidFill>
                <a:latin typeface="Arial" pitchFamily="34" charset="0"/>
                <a:ea typeface="Arial" pitchFamily="34" charset="-122"/>
                <a:cs typeface="Arial" pitchFamily="34" charset="-120"/>
              </a:rPr>
              <a:t>OUTPUT</a:t>
            </a:r>
            <a:endParaRPr lang="en-US" sz="1600" dirty="0"/>
          </a:p>
        </p:txBody>
      </p:sp>
      <p:sp>
        <p:nvSpPr>
          <p:cNvPr id="52" name="Text 49"/>
          <p:cNvSpPr/>
          <p:nvPr/>
        </p:nvSpPr>
        <p:spPr>
          <a:xfrm>
            <a:off x="18059400" y="7315200"/>
            <a:ext cx="2560320" cy="1645920"/>
          </a:xfrm>
          <a:prstGeom prst="rect">
            <a:avLst/>
          </a:prstGeom>
          <a:noFill/>
          <a:ln/>
        </p:spPr>
        <p:txBody>
          <a:bodyPr wrap="square" rtlCol="0" anchor="ctr"/>
          <a:lstStyle/>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EQ advisory generation</a:t>
            </a:r>
            <a:endParaRPr lang="en-US" sz="1500" dirty="0"/>
          </a:p>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GEQ/PEQ/shelf recs</a:t>
            </a:r>
            <a:endParaRPr lang="en-US" sz="1500" dirty="0"/>
          </a:p>
          <a:p>
            <a:pPr algn="ctr" indent="0" marL="0">
              <a:lnSpc>
                <a:spcPct val="130000"/>
              </a:lnSpc>
              <a:buNone/>
            </a:pPr>
            <a:r>
              <a:rPr lang="en-US" sz="1500" dirty="0">
                <a:solidFill>
                  <a:srgbClr val="E0E6ED"/>
                </a:solidFill>
                <a:latin typeface="Arial" pitchFamily="34" charset="0"/>
                <a:ea typeface="Arial" pitchFamily="34" charset="-122"/>
                <a:cs typeface="Arial" pitchFamily="34" charset="-120"/>
              </a:rPr>
              <a:t>ERB psychoacoustic scaling</a:t>
            </a:r>
            <a:endParaRPr lang="en-US" sz="1500" dirty="0"/>
          </a:p>
        </p:txBody>
      </p:sp>
      <p:sp>
        <p:nvSpPr>
          <p:cNvPr id="53" name="Text 50"/>
          <p:cNvSpPr/>
          <p:nvPr/>
        </p:nvSpPr>
        <p:spPr>
          <a:xfrm>
            <a:off x="14401800" y="7589520"/>
            <a:ext cx="457200" cy="457200"/>
          </a:xfrm>
          <a:prstGeom prst="rect">
            <a:avLst/>
          </a:prstGeom>
          <a:noFill/>
          <a:ln/>
        </p:spPr>
        <p:txBody>
          <a:bodyPr wrap="square" rtlCol="0" anchor="ctr"/>
          <a:lstStyle/>
          <a:p>
            <a:pPr algn="ctr" indent="0" marL="0">
              <a:buNone/>
            </a:pPr>
            <a:r>
              <a:rPr lang="en-US" sz="2800" dirty="0">
                <a:solidFill>
                  <a:srgbClr val="8B949E"/>
                </a:solidFill>
              </a:rPr>
              <a:t>→</a:t>
            </a:r>
            <a:endParaRPr lang="en-US" sz="2800" dirty="0"/>
          </a:p>
        </p:txBody>
      </p:sp>
      <p:sp>
        <p:nvSpPr>
          <p:cNvPr id="54" name="Text 51"/>
          <p:cNvSpPr/>
          <p:nvPr/>
        </p:nvSpPr>
        <p:spPr>
          <a:xfrm>
            <a:off x="17602200" y="7589520"/>
            <a:ext cx="457200" cy="457200"/>
          </a:xfrm>
          <a:prstGeom prst="rect">
            <a:avLst/>
          </a:prstGeom>
          <a:noFill/>
          <a:ln/>
        </p:spPr>
        <p:txBody>
          <a:bodyPr wrap="square" rtlCol="0" anchor="ctr"/>
          <a:lstStyle/>
          <a:p>
            <a:pPr algn="ctr" indent="0" marL="0">
              <a:buNone/>
            </a:pPr>
            <a:r>
              <a:rPr lang="en-US" sz="2800" dirty="0">
                <a:solidFill>
                  <a:srgbClr val="8B949E"/>
                </a:solidFill>
              </a:rPr>
              <a:t>→</a:t>
            </a:r>
            <a:endParaRPr lang="en-US" sz="2800" dirty="0"/>
          </a:p>
        </p:txBody>
      </p:sp>
      <p:sp>
        <p:nvSpPr>
          <p:cNvPr id="55" name="Shape 52"/>
          <p:cNvSpPr/>
          <p:nvPr/>
        </p:nvSpPr>
        <p:spPr>
          <a:xfrm>
            <a:off x="11430000" y="9875520"/>
            <a:ext cx="9601200" cy="73152"/>
          </a:xfrm>
          <a:prstGeom prst="rect">
            <a:avLst/>
          </a:prstGeom>
          <a:solidFill>
            <a:srgbClr val="16A085"/>
          </a:solidFill>
          <a:ln/>
        </p:spPr>
      </p:sp>
      <p:sp>
        <p:nvSpPr>
          <p:cNvPr id="56" name="Text 53"/>
          <p:cNvSpPr/>
          <p:nvPr/>
        </p:nvSpPr>
        <p:spPr>
          <a:xfrm>
            <a:off x="11430000" y="10058400"/>
            <a:ext cx="9601200" cy="640080"/>
          </a:xfrm>
          <a:prstGeom prst="rect">
            <a:avLst/>
          </a:prstGeom>
          <a:noFill/>
          <a:ln/>
        </p:spPr>
        <p:txBody>
          <a:bodyPr wrap="square" rtlCol="0" anchor="ctr"/>
          <a:lstStyle/>
          <a:p>
            <a:pPr indent="0" marL="0">
              <a:buNone/>
            </a:pPr>
            <a:r>
              <a:rPr lang="en-US" sz="3200" b="1" dirty="0">
                <a:solidFill>
                  <a:srgbClr val="16A085"/>
                </a:solidFill>
                <a:latin typeface="Arial" pitchFamily="34" charset="0"/>
                <a:ea typeface="Arial" pitchFamily="34" charset="-122"/>
                <a:cs typeface="Arial" pitchFamily="34" charset="-120"/>
              </a:rPr>
              <a:t>SIX DETECTION ALGORITHMS</a:t>
            </a:r>
            <a:endParaRPr lang="en-US" sz="3200" dirty="0"/>
          </a:p>
        </p:txBody>
      </p:sp>
      <p:sp>
        <p:nvSpPr>
          <p:cNvPr id="57" name="Shape 54"/>
          <p:cNvSpPr/>
          <p:nvPr/>
        </p:nvSpPr>
        <p:spPr>
          <a:xfrm>
            <a:off x="11430000" y="10789920"/>
            <a:ext cx="3017520" cy="3474720"/>
          </a:xfrm>
          <a:prstGeom prst="roundRect">
            <a:avLst>
              <a:gd name="adj" fmla="val 4545"/>
            </a:avLst>
          </a:prstGeom>
          <a:solidFill>
            <a:srgbClr val="161B22"/>
          </a:solidFill>
          <a:ln w="12700">
            <a:solidFill>
              <a:srgbClr val="30363D"/>
            </a:solidFill>
            <a:prstDash val="solid"/>
          </a:ln>
        </p:spPr>
      </p:sp>
      <p:sp>
        <p:nvSpPr>
          <p:cNvPr id="58" name="Shape 55"/>
          <p:cNvSpPr/>
          <p:nvPr/>
        </p:nvSpPr>
        <p:spPr>
          <a:xfrm>
            <a:off x="11430000" y="10789920"/>
            <a:ext cx="3017520" cy="54864"/>
          </a:xfrm>
          <a:prstGeom prst="rect">
            <a:avLst/>
          </a:prstGeom>
          <a:solidFill>
            <a:srgbClr val="3498DB"/>
          </a:solidFill>
          <a:ln/>
        </p:spPr>
      </p:sp>
      <p:sp>
        <p:nvSpPr>
          <p:cNvPr id="59" name="Text 56"/>
          <p:cNvSpPr/>
          <p:nvPr/>
        </p:nvSpPr>
        <p:spPr>
          <a:xfrm>
            <a:off x="11521440" y="10927080"/>
            <a:ext cx="2834640" cy="411480"/>
          </a:xfrm>
          <a:prstGeom prst="rect">
            <a:avLst/>
          </a:prstGeom>
          <a:noFill/>
          <a:ln/>
        </p:spPr>
        <p:txBody>
          <a:bodyPr wrap="square" rtlCol="0" anchor="ctr"/>
          <a:lstStyle/>
          <a:p>
            <a:pPr indent="0" marL="0">
              <a:buNone/>
            </a:pPr>
            <a:r>
              <a:rPr lang="en-US" sz="2000" b="1" dirty="0">
                <a:solidFill>
                  <a:srgbClr val="3498DB"/>
                </a:solidFill>
                <a:latin typeface="Arial" pitchFamily="34" charset="0"/>
                <a:ea typeface="Arial" pitchFamily="34" charset="-122"/>
                <a:cs typeface="Arial" pitchFamily="34" charset="-120"/>
              </a:rPr>
              <a:t>MSD</a:t>
            </a:r>
            <a:endParaRPr lang="en-US" sz="2000" dirty="0"/>
          </a:p>
        </p:txBody>
      </p:sp>
      <p:sp>
        <p:nvSpPr>
          <p:cNvPr id="60" name="Text 57"/>
          <p:cNvSpPr/>
          <p:nvPr/>
        </p:nvSpPr>
        <p:spPr>
          <a:xfrm>
            <a:off x="11521440" y="11338560"/>
            <a:ext cx="2834640" cy="320040"/>
          </a:xfrm>
          <a:prstGeom prst="rect">
            <a:avLst/>
          </a:prstGeom>
          <a:noFill/>
          <a:ln/>
        </p:spPr>
        <p:txBody>
          <a:bodyPr wrap="square" rtlCol="0" anchor="ctr"/>
          <a:lstStyle/>
          <a:p>
            <a:pPr indent="0" marL="0">
              <a:buNone/>
            </a:pPr>
            <a:r>
              <a:rPr lang="en-US" sz="1400" i="1" dirty="0">
                <a:solidFill>
                  <a:srgbClr val="8B949E"/>
                </a:solidFill>
                <a:latin typeface="Arial" pitchFamily="34" charset="0"/>
                <a:ea typeface="Arial" pitchFamily="34" charset="-122"/>
                <a:cs typeface="Arial" pitchFamily="34" charset="-120"/>
              </a:rPr>
              <a:t>Magnitude stability</a:t>
            </a:r>
            <a:endParaRPr lang="en-US" sz="1400" dirty="0"/>
          </a:p>
        </p:txBody>
      </p:sp>
      <p:sp>
        <p:nvSpPr>
          <p:cNvPr id="61" name="Text 58"/>
          <p:cNvSpPr/>
          <p:nvPr/>
        </p:nvSpPr>
        <p:spPr>
          <a:xfrm>
            <a:off x="11521440" y="11795760"/>
            <a:ext cx="2834640" cy="914400"/>
          </a:xfrm>
          <a:prstGeom prst="rect">
            <a:avLst/>
          </a:prstGeom>
          <a:noFill/>
          <a:ln/>
        </p:spPr>
        <p:txBody>
          <a:bodyPr wrap="square" rtlCol="0" anchor="ctr"/>
          <a:lstStyle/>
          <a:p>
            <a:pPr indent="0" marL="0">
              <a:lnSpc>
                <a:spcPct val="130000"/>
              </a:lnSpc>
              <a:buNone/>
            </a:pPr>
            <a:r>
              <a:rPr lang="en-US" sz="1500" dirty="0">
                <a:solidFill>
                  <a:srgbClr val="E0E6ED"/>
                </a:solidFill>
                <a:latin typeface="Arial" pitchFamily="34" charset="0"/>
                <a:ea typeface="Arial" pitchFamily="34" charset="-122"/>
                <a:cs typeface="Arial" pitchFamily="34" charset="-120"/>
              </a:rPr>
              <a:t>Second-derivative stencil</a:t>
            </a:r>
            <a:endParaRPr lang="en-US" sz="1500" dirty="0"/>
          </a:p>
          <a:p>
            <a:pPr indent="0" marL="0">
              <a:lnSpc>
                <a:spcPct val="130000"/>
              </a:lnSpc>
              <a:buNone/>
            </a:pPr>
            <a:r>
              <a:rPr lang="en-US" sz="1500" dirty="0">
                <a:solidFill>
                  <a:srgbClr val="E0E6ED"/>
                </a:solidFill>
                <a:latin typeface="Arial" pitchFamily="34" charset="0"/>
                <a:ea typeface="Arial" pitchFamily="34" charset="-122"/>
                <a:cs typeface="Arial" pitchFamily="34" charset="-120"/>
              </a:rPr>
              <a:t>Sparse pool: 256 slots</a:t>
            </a:r>
            <a:endParaRPr lang="en-US" sz="1500" dirty="0"/>
          </a:p>
        </p:txBody>
      </p:sp>
      <p:sp>
        <p:nvSpPr>
          <p:cNvPr id="62" name="Shape 59"/>
          <p:cNvSpPr/>
          <p:nvPr/>
        </p:nvSpPr>
        <p:spPr>
          <a:xfrm>
            <a:off x="11567160" y="12893040"/>
            <a:ext cx="2743200" cy="1097280"/>
          </a:xfrm>
          <a:prstGeom prst="roundRect">
            <a:avLst>
              <a:gd name="adj" fmla="val 12500"/>
            </a:avLst>
          </a:prstGeom>
          <a:solidFill>
            <a:srgbClr val="1C2128"/>
          </a:solidFill>
          <a:ln w="12700">
            <a:solidFill>
              <a:srgbClr val="30363D"/>
            </a:solidFill>
            <a:prstDash val="solid"/>
          </a:ln>
        </p:spPr>
      </p:sp>
      <p:sp>
        <p:nvSpPr>
          <p:cNvPr id="63" name="Text 60"/>
          <p:cNvSpPr/>
          <p:nvPr/>
        </p:nvSpPr>
        <p:spPr>
          <a:xfrm>
            <a:off x="11658600" y="13075920"/>
            <a:ext cx="2560320" cy="731520"/>
          </a:xfrm>
          <a:prstGeom prst="rect">
            <a:avLst/>
          </a:prstGeom>
          <a:noFill/>
          <a:ln/>
        </p:spPr>
        <p:txBody>
          <a:bodyPr wrap="square" rtlCol="0" anchor="ctr"/>
          <a:lstStyle/>
          <a:p>
            <a:pPr algn="ctr" indent="0" marL="0">
              <a:buNone/>
            </a:pPr>
            <a:r>
              <a:rPr lang="en-US" sz="1600" dirty="0">
                <a:solidFill>
                  <a:srgbClr val="3498DB"/>
                </a:solidFill>
                <a:latin typeface="Courier New" pitchFamily="34" charset="0"/>
                <a:ea typeface="Courier New" pitchFamily="34" charset="-122"/>
                <a:cs typeface="Courier New" pitchFamily="34" charset="-120"/>
              </a:rPr>
              <a:t>MSD(k)=(1/N)Σ|G''|²</a:t>
            </a:r>
            <a:endParaRPr lang="en-US" sz="1600" dirty="0"/>
          </a:p>
        </p:txBody>
      </p:sp>
      <p:sp>
        <p:nvSpPr>
          <p:cNvPr id="64" name="Shape 61"/>
          <p:cNvSpPr/>
          <p:nvPr/>
        </p:nvSpPr>
        <p:spPr>
          <a:xfrm>
            <a:off x="14676120" y="10789920"/>
            <a:ext cx="3017520" cy="3474720"/>
          </a:xfrm>
          <a:prstGeom prst="roundRect">
            <a:avLst>
              <a:gd name="adj" fmla="val 4545"/>
            </a:avLst>
          </a:prstGeom>
          <a:solidFill>
            <a:srgbClr val="161B22"/>
          </a:solidFill>
          <a:ln w="12700">
            <a:solidFill>
              <a:srgbClr val="30363D"/>
            </a:solidFill>
            <a:prstDash val="solid"/>
          </a:ln>
        </p:spPr>
      </p:sp>
      <p:sp>
        <p:nvSpPr>
          <p:cNvPr id="65" name="Shape 62"/>
          <p:cNvSpPr/>
          <p:nvPr/>
        </p:nvSpPr>
        <p:spPr>
          <a:xfrm>
            <a:off x="14676120" y="10789920"/>
            <a:ext cx="3017520" cy="54864"/>
          </a:xfrm>
          <a:prstGeom prst="rect">
            <a:avLst/>
          </a:prstGeom>
          <a:solidFill>
            <a:srgbClr val="16A085"/>
          </a:solidFill>
          <a:ln/>
        </p:spPr>
      </p:sp>
      <p:sp>
        <p:nvSpPr>
          <p:cNvPr id="66" name="Text 63"/>
          <p:cNvSpPr/>
          <p:nvPr/>
        </p:nvSpPr>
        <p:spPr>
          <a:xfrm>
            <a:off x="14767560" y="10927080"/>
            <a:ext cx="2834640" cy="411480"/>
          </a:xfrm>
          <a:prstGeom prst="rect">
            <a:avLst/>
          </a:prstGeom>
          <a:noFill/>
          <a:ln/>
        </p:spPr>
        <p:txBody>
          <a:bodyPr wrap="square" rtlCol="0" anchor="ctr"/>
          <a:lstStyle/>
          <a:p>
            <a:pPr indent="0" marL="0">
              <a:buNone/>
            </a:pPr>
            <a:r>
              <a:rPr lang="en-US" sz="2000" b="1" dirty="0">
                <a:solidFill>
                  <a:srgbClr val="16A085"/>
                </a:solidFill>
                <a:latin typeface="Arial" pitchFamily="34" charset="0"/>
                <a:ea typeface="Arial" pitchFamily="34" charset="-122"/>
                <a:cs typeface="Arial" pitchFamily="34" charset="-120"/>
              </a:rPr>
              <a:t>Phase</a:t>
            </a:r>
            <a:endParaRPr lang="en-US" sz="2000" dirty="0"/>
          </a:p>
        </p:txBody>
      </p:sp>
      <p:sp>
        <p:nvSpPr>
          <p:cNvPr id="67" name="Text 64"/>
          <p:cNvSpPr/>
          <p:nvPr/>
        </p:nvSpPr>
        <p:spPr>
          <a:xfrm>
            <a:off x="14767560" y="11338560"/>
            <a:ext cx="2834640" cy="320040"/>
          </a:xfrm>
          <a:prstGeom prst="rect">
            <a:avLst/>
          </a:prstGeom>
          <a:noFill/>
          <a:ln/>
        </p:spPr>
        <p:txBody>
          <a:bodyPr wrap="square" rtlCol="0" anchor="ctr"/>
          <a:lstStyle/>
          <a:p>
            <a:pPr indent="0" marL="0">
              <a:buNone/>
            </a:pPr>
            <a:r>
              <a:rPr lang="en-US" sz="1400" i="1" dirty="0">
                <a:solidFill>
                  <a:srgbClr val="8B949E"/>
                </a:solidFill>
                <a:latin typeface="Arial" pitchFamily="34" charset="0"/>
                <a:ea typeface="Arial" pitchFamily="34" charset="-122"/>
                <a:cs typeface="Arial" pitchFamily="34" charset="-120"/>
              </a:rPr>
              <a:t>Phase coherence</a:t>
            </a:r>
            <a:endParaRPr lang="en-US" sz="1400" dirty="0"/>
          </a:p>
        </p:txBody>
      </p:sp>
      <p:sp>
        <p:nvSpPr>
          <p:cNvPr id="68" name="Text 65"/>
          <p:cNvSpPr/>
          <p:nvPr/>
        </p:nvSpPr>
        <p:spPr>
          <a:xfrm>
            <a:off x="14767560" y="11795760"/>
            <a:ext cx="2834640" cy="914400"/>
          </a:xfrm>
          <a:prstGeom prst="rect">
            <a:avLst/>
          </a:prstGeom>
          <a:noFill/>
          <a:ln/>
        </p:spPr>
        <p:txBody>
          <a:bodyPr wrap="square" rtlCol="0" anchor="ctr"/>
          <a:lstStyle/>
          <a:p>
            <a:pPr indent="0" marL="0">
              <a:lnSpc>
                <a:spcPct val="130000"/>
              </a:lnSpc>
              <a:buNone/>
            </a:pPr>
            <a:r>
              <a:rPr lang="en-US" sz="1500" dirty="0">
                <a:solidFill>
                  <a:srgbClr val="E0E6ED"/>
                </a:solidFill>
                <a:latin typeface="Arial" pitchFamily="34" charset="0"/>
                <a:ea typeface="Arial" pitchFamily="34" charset="-122"/>
                <a:cs typeface="Arial" pitchFamily="34" charset="-120"/>
              </a:rPr>
              <a:t>Circular statistics</a:t>
            </a:r>
            <a:endParaRPr lang="en-US" sz="1500" dirty="0"/>
          </a:p>
          <a:p>
            <a:pPr indent="0" marL="0">
              <a:lnSpc>
                <a:spcPct val="130000"/>
              </a:lnSpc>
              <a:buNone/>
            </a:pPr>
            <a:r>
              <a:rPr lang="en-US" sz="1500" dirty="0">
                <a:solidFill>
                  <a:srgbClr val="E0E6ED"/>
                </a:solidFill>
                <a:latin typeface="Arial" pitchFamily="34" charset="0"/>
                <a:ea typeface="Arial" pitchFamily="34" charset="-122"/>
                <a:cs typeface="Arial" pitchFamily="34" charset="-120"/>
              </a:rPr>
              <a:t>phasor averaging</a:t>
            </a:r>
            <a:endParaRPr lang="en-US" sz="1500" dirty="0"/>
          </a:p>
        </p:txBody>
      </p:sp>
      <p:sp>
        <p:nvSpPr>
          <p:cNvPr id="69" name="Shape 66"/>
          <p:cNvSpPr/>
          <p:nvPr/>
        </p:nvSpPr>
        <p:spPr>
          <a:xfrm>
            <a:off x="14813280" y="12893040"/>
            <a:ext cx="2743200" cy="1097280"/>
          </a:xfrm>
          <a:prstGeom prst="roundRect">
            <a:avLst>
              <a:gd name="adj" fmla="val 12500"/>
            </a:avLst>
          </a:prstGeom>
          <a:solidFill>
            <a:srgbClr val="1C2128"/>
          </a:solidFill>
          <a:ln w="12700">
            <a:solidFill>
              <a:srgbClr val="30363D"/>
            </a:solidFill>
            <a:prstDash val="solid"/>
          </a:ln>
        </p:spPr>
      </p:sp>
      <p:sp>
        <p:nvSpPr>
          <p:cNvPr id="70" name="Text 67"/>
          <p:cNvSpPr/>
          <p:nvPr/>
        </p:nvSpPr>
        <p:spPr>
          <a:xfrm>
            <a:off x="14904720" y="13075920"/>
            <a:ext cx="2560320" cy="731520"/>
          </a:xfrm>
          <a:prstGeom prst="rect">
            <a:avLst/>
          </a:prstGeom>
          <a:noFill/>
          <a:ln/>
        </p:spPr>
        <p:txBody>
          <a:bodyPr wrap="square" rtlCol="0" anchor="ctr"/>
          <a:lstStyle/>
          <a:p>
            <a:pPr algn="ctr" indent="0" marL="0">
              <a:buNone/>
            </a:pPr>
            <a:r>
              <a:rPr lang="en-US" sz="1600" dirty="0">
                <a:solidFill>
                  <a:srgbClr val="16A085"/>
                </a:solidFill>
                <a:latin typeface="Courier New" pitchFamily="34" charset="0"/>
                <a:ea typeface="Courier New" pitchFamily="34" charset="-122"/>
                <a:cs typeface="Courier New" pitchFamily="34" charset="-120"/>
              </a:rPr>
              <a:t>C=|mean(e^{jΔφ})|</a:t>
            </a:r>
            <a:endParaRPr lang="en-US" sz="1600" dirty="0"/>
          </a:p>
        </p:txBody>
      </p:sp>
      <p:sp>
        <p:nvSpPr>
          <p:cNvPr id="71" name="Shape 68"/>
          <p:cNvSpPr/>
          <p:nvPr/>
        </p:nvSpPr>
        <p:spPr>
          <a:xfrm>
            <a:off x="17922240" y="10789920"/>
            <a:ext cx="3017520" cy="3474720"/>
          </a:xfrm>
          <a:prstGeom prst="roundRect">
            <a:avLst>
              <a:gd name="adj" fmla="val 4545"/>
            </a:avLst>
          </a:prstGeom>
          <a:solidFill>
            <a:srgbClr val="161B22"/>
          </a:solidFill>
          <a:ln w="12700">
            <a:solidFill>
              <a:srgbClr val="30363D"/>
            </a:solidFill>
            <a:prstDash val="solid"/>
          </a:ln>
        </p:spPr>
      </p:sp>
      <p:sp>
        <p:nvSpPr>
          <p:cNvPr id="72" name="Shape 69"/>
          <p:cNvSpPr/>
          <p:nvPr/>
        </p:nvSpPr>
        <p:spPr>
          <a:xfrm>
            <a:off x="17922240" y="10789920"/>
            <a:ext cx="3017520" cy="54864"/>
          </a:xfrm>
          <a:prstGeom prst="rect">
            <a:avLst/>
          </a:prstGeom>
          <a:solidFill>
            <a:srgbClr val="D4A843"/>
          </a:solidFill>
          <a:ln/>
        </p:spPr>
      </p:sp>
      <p:sp>
        <p:nvSpPr>
          <p:cNvPr id="73" name="Text 70"/>
          <p:cNvSpPr/>
          <p:nvPr/>
        </p:nvSpPr>
        <p:spPr>
          <a:xfrm>
            <a:off x="18013680" y="10927080"/>
            <a:ext cx="2834640" cy="411480"/>
          </a:xfrm>
          <a:prstGeom prst="rect">
            <a:avLst/>
          </a:prstGeom>
          <a:noFill/>
          <a:ln/>
        </p:spPr>
        <p:txBody>
          <a:bodyPr wrap="square" rtlCol="0" anchor="ctr"/>
          <a:lstStyle/>
          <a:p>
            <a:pPr indent="0" marL="0">
              <a:buNone/>
            </a:pPr>
            <a:r>
              <a:rPr lang="en-US" sz="2000" b="1" dirty="0">
                <a:solidFill>
                  <a:srgbClr val="D4A843"/>
                </a:solidFill>
                <a:latin typeface="Arial" pitchFamily="34" charset="0"/>
                <a:ea typeface="Arial" pitchFamily="34" charset="-122"/>
                <a:cs typeface="Arial" pitchFamily="34" charset="-120"/>
              </a:rPr>
              <a:t>Spectral</a:t>
            </a:r>
            <a:endParaRPr lang="en-US" sz="2000" dirty="0"/>
          </a:p>
        </p:txBody>
      </p:sp>
      <p:sp>
        <p:nvSpPr>
          <p:cNvPr id="74" name="Text 71"/>
          <p:cNvSpPr/>
          <p:nvPr/>
        </p:nvSpPr>
        <p:spPr>
          <a:xfrm>
            <a:off x="18013680" y="11338560"/>
            <a:ext cx="2834640" cy="320040"/>
          </a:xfrm>
          <a:prstGeom prst="rect">
            <a:avLst/>
          </a:prstGeom>
          <a:noFill/>
          <a:ln/>
        </p:spPr>
        <p:txBody>
          <a:bodyPr wrap="square" rtlCol="0" anchor="ctr"/>
          <a:lstStyle/>
          <a:p>
            <a:pPr indent="0" marL="0">
              <a:buNone/>
            </a:pPr>
            <a:r>
              <a:rPr lang="en-US" sz="1400" i="1" dirty="0">
                <a:solidFill>
                  <a:srgbClr val="8B949E"/>
                </a:solidFill>
                <a:latin typeface="Arial" pitchFamily="34" charset="0"/>
                <a:ea typeface="Arial" pitchFamily="34" charset="-122"/>
                <a:cs typeface="Arial" pitchFamily="34" charset="-120"/>
              </a:rPr>
              <a:t>Spectral flatness</a:t>
            </a:r>
            <a:endParaRPr lang="en-US" sz="1400" dirty="0"/>
          </a:p>
        </p:txBody>
      </p:sp>
      <p:sp>
        <p:nvSpPr>
          <p:cNvPr id="75" name="Text 72"/>
          <p:cNvSpPr/>
          <p:nvPr/>
        </p:nvSpPr>
        <p:spPr>
          <a:xfrm>
            <a:off x="18013680" y="11795760"/>
            <a:ext cx="2834640" cy="914400"/>
          </a:xfrm>
          <a:prstGeom prst="rect">
            <a:avLst/>
          </a:prstGeom>
          <a:noFill/>
          <a:ln/>
        </p:spPr>
        <p:txBody>
          <a:bodyPr wrap="square" rtlCol="0" anchor="ctr"/>
          <a:lstStyle/>
          <a:p>
            <a:pPr indent="0" marL="0">
              <a:lnSpc>
                <a:spcPct val="130000"/>
              </a:lnSpc>
              <a:buNone/>
            </a:pPr>
            <a:r>
              <a:rPr lang="en-US" sz="1500" dirty="0">
                <a:solidFill>
                  <a:srgbClr val="E0E6ED"/>
                </a:solidFill>
                <a:latin typeface="Arial" pitchFamily="34" charset="0"/>
                <a:ea typeface="Arial" pitchFamily="34" charset="-122"/>
                <a:cs typeface="Arial" pitchFamily="34" charset="-120"/>
              </a:rPr>
              <a:t>Geometric/arithmetic</a:t>
            </a:r>
            <a:endParaRPr lang="en-US" sz="1500" dirty="0"/>
          </a:p>
          <a:p>
            <a:pPr indent="0" marL="0">
              <a:lnSpc>
                <a:spcPct val="130000"/>
              </a:lnSpc>
              <a:buNone/>
            </a:pPr>
            <a:r>
              <a:rPr lang="en-US" sz="1500" dirty="0">
                <a:solidFill>
                  <a:srgbClr val="E0E6ED"/>
                </a:solidFill>
                <a:latin typeface="Arial" pitchFamily="34" charset="0"/>
                <a:ea typeface="Arial" pitchFamily="34" charset="-122"/>
                <a:cs typeface="Arial" pitchFamily="34" charset="-120"/>
              </a:rPr>
              <a:t>mean ratio + kurtosis</a:t>
            </a:r>
            <a:endParaRPr lang="en-US" sz="1500" dirty="0"/>
          </a:p>
        </p:txBody>
      </p:sp>
      <p:sp>
        <p:nvSpPr>
          <p:cNvPr id="76" name="Shape 73"/>
          <p:cNvSpPr/>
          <p:nvPr/>
        </p:nvSpPr>
        <p:spPr>
          <a:xfrm>
            <a:off x="18059400" y="12893040"/>
            <a:ext cx="2743200" cy="1097280"/>
          </a:xfrm>
          <a:prstGeom prst="roundRect">
            <a:avLst>
              <a:gd name="adj" fmla="val 12500"/>
            </a:avLst>
          </a:prstGeom>
          <a:solidFill>
            <a:srgbClr val="1C2128"/>
          </a:solidFill>
          <a:ln w="12700">
            <a:solidFill>
              <a:srgbClr val="30363D"/>
            </a:solidFill>
            <a:prstDash val="solid"/>
          </a:ln>
        </p:spPr>
      </p:sp>
      <p:sp>
        <p:nvSpPr>
          <p:cNvPr id="77" name="Text 74"/>
          <p:cNvSpPr/>
          <p:nvPr/>
        </p:nvSpPr>
        <p:spPr>
          <a:xfrm>
            <a:off x="18150840" y="13075920"/>
            <a:ext cx="2560320" cy="731520"/>
          </a:xfrm>
          <a:prstGeom prst="rect">
            <a:avLst/>
          </a:prstGeom>
          <a:noFill/>
          <a:ln/>
        </p:spPr>
        <p:txBody>
          <a:bodyPr wrap="square" rtlCol="0" anchor="ctr"/>
          <a:lstStyle/>
          <a:p>
            <a:pPr algn="ctr" indent="0" marL="0">
              <a:buNone/>
            </a:pPr>
            <a:r>
              <a:rPr lang="en-US" sz="1600" dirty="0">
                <a:solidFill>
                  <a:srgbClr val="D4A843"/>
                </a:solidFill>
                <a:latin typeface="Courier New" pitchFamily="34" charset="0"/>
                <a:ea typeface="Courier New" pitchFamily="34" charset="-122"/>
                <a:cs typeface="Courier New" pitchFamily="34" charset="-120"/>
              </a:rPr>
              <a:t>SF=G_mean/A_mean</a:t>
            </a:r>
            <a:endParaRPr lang="en-US" sz="1600" dirty="0"/>
          </a:p>
        </p:txBody>
      </p:sp>
      <p:sp>
        <p:nvSpPr>
          <p:cNvPr id="78" name="Shape 75"/>
          <p:cNvSpPr/>
          <p:nvPr/>
        </p:nvSpPr>
        <p:spPr>
          <a:xfrm>
            <a:off x="11430000" y="14630400"/>
            <a:ext cx="3017520" cy="3474720"/>
          </a:xfrm>
          <a:prstGeom prst="roundRect">
            <a:avLst>
              <a:gd name="adj" fmla="val 4545"/>
            </a:avLst>
          </a:prstGeom>
          <a:solidFill>
            <a:srgbClr val="161B22"/>
          </a:solidFill>
          <a:ln w="12700">
            <a:solidFill>
              <a:srgbClr val="30363D"/>
            </a:solidFill>
            <a:prstDash val="solid"/>
          </a:ln>
        </p:spPr>
      </p:sp>
      <p:sp>
        <p:nvSpPr>
          <p:cNvPr id="79" name="Shape 76"/>
          <p:cNvSpPr/>
          <p:nvPr/>
        </p:nvSpPr>
        <p:spPr>
          <a:xfrm>
            <a:off x="11430000" y="14630400"/>
            <a:ext cx="3017520" cy="54864"/>
          </a:xfrm>
          <a:prstGeom prst="rect">
            <a:avLst/>
          </a:prstGeom>
          <a:solidFill>
            <a:srgbClr val="9B59B6"/>
          </a:solidFill>
          <a:ln/>
        </p:spPr>
      </p:sp>
      <p:sp>
        <p:nvSpPr>
          <p:cNvPr id="80" name="Text 77"/>
          <p:cNvSpPr/>
          <p:nvPr/>
        </p:nvSpPr>
        <p:spPr>
          <a:xfrm>
            <a:off x="11521440" y="14767560"/>
            <a:ext cx="2834640" cy="411480"/>
          </a:xfrm>
          <a:prstGeom prst="rect">
            <a:avLst/>
          </a:prstGeom>
          <a:noFill/>
          <a:ln/>
        </p:spPr>
        <p:txBody>
          <a:bodyPr wrap="square" rtlCol="0" anchor="ctr"/>
          <a:lstStyle/>
          <a:p>
            <a:pPr indent="0" marL="0">
              <a:buNone/>
            </a:pPr>
            <a:r>
              <a:rPr lang="en-US" sz="2000" b="1" dirty="0">
                <a:solidFill>
                  <a:srgbClr val="9B59B6"/>
                </a:solidFill>
                <a:latin typeface="Arial" pitchFamily="34" charset="0"/>
                <a:ea typeface="Arial" pitchFamily="34" charset="-122"/>
                <a:cs typeface="Arial" pitchFamily="34" charset="-120"/>
              </a:rPr>
              <a:t>Comb</a:t>
            </a:r>
            <a:endParaRPr lang="en-US" sz="2000" dirty="0"/>
          </a:p>
        </p:txBody>
      </p:sp>
      <p:sp>
        <p:nvSpPr>
          <p:cNvPr id="81" name="Text 78"/>
          <p:cNvSpPr/>
          <p:nvPr/>
        </p:nvSpPr>
        <p:spPr>
          <a:xfrm>
            <a:off x="11521440" y="15179040"/>
            <a:ext cx="2834640" cy="320040"/>
          </a:xfrm>
          <a:prstGeom prst="rect">
            <a:avLst/>
          </a:prstGeom>
          <a:noFill/>
          <a:ln/>
        </p:spPr>
        <p:txBody>
          <a:bodyPr wrap="square" rtlCol="0" anchor="ctr"/>
          <a:lstStyle/>
          <a:p>
            <a:pPr indent="0" marL="0">
              <a:buNone/>
            </a:pPr>
            <a:r>
              <a:rPr lang="en-US" sz="1400" i="1" dirty="0">
                <a:solidFill>
                  <a:srgbClr val="8B949E"/>
                </a:solidFill>
                <a:latin typeface="Arial" pitchFamily="34" charset="0"/>
                <a:ea typeface="Arial" pitchFamily="34" charset="-122"/>
                <a:cs typeface="Arial" pitchFamily="34" charset="-120"/>
              </a:rPr>
              <a:t>Comb filter</a:t>
            </a:r>
            <a:endParaRPr lang="en-US" sz="1400" dirty="0"/>
          </a:p>
        </p:txBody>
      </p:sp>
      <p:sp>
        <p:nvSpPr>
          <p:cNvPr id="82" name="Text 79"/>
          <p:cNvSpPr/>
          <p:nvPr/>
        </p:nvSpPr>
        <p:spPr>
          <a:xfrm>
            <a:off x="11521440" y="15636240"/>
            <a:ext cx="2834640" cy="914400"/>
          </a:xfrm>
          <a:prstGeom prst="rect">
            <a:avLst/>
          </a:prstGeom>
          <a:noFill/>
          <a:ln/>
        </p:spPr>
        <p:txBody>
          <a:bodyPr wrap="square" rtlCol="0" anchor="ctr"/>
          <a:lstStyle/>
          <a:p>
            <a:pPr indent="0" marL="0">
              <a:lnSpc>
                <a:spcPct val="130000"/>
              </a:lnSpc>
              <a:buNone/>
            </a:pPr>
            <a:r>
              <a:rPr lang="en-US" sz="1500" dirty="0">
                <a:solidFill>
                  <a:srgbClr val="E0E6ED"/>
                </a:solidFill>
                <a:latin typeface="Arial" pitchFamily="34" charset="0"/>
                <a:ea typeface="Arial" pitchFamily="34" charset="-122"/>
                <a:cs typeface="Arial" pitchFamily="34" charset="-120"/>
              </a:rPr>
              <a:t>Harmonic series</a:t>
            </a:r>
            <a:endParaRPr lang="en-US" sz="1500" dirty="0"/>
          </a:p>
          <a:p>
            <a:pPr indent="0" marL="0">
              <a:lnSpc>
                <a:spcPct val="130000"/>
              </a:lnSpc>
              <a:buNone/>
            </a:pPr>
            <a:r>
              <a:rPr lang="en-US" sz="1500" dirty="0">
                <a:solidFill>
                  <a:srgbClr val="E0E6ED"/>
                </a:solidFill>
                <a:latin typeface="Arial" pitchFamily="34" charset="0"/>
                <a:ea typeface="Arial" pitchFamily="34" charset="-122"/>
                <a:cs typeface="Arial" pitchFamily="34" charset="-120"/>
              </a:rPr>
              <a:t>matching ±5%</a:t>
            </a:r>
            <a:endParaRPr lang="en-US" sz="1500" dirty="0"/>
          </a:p>
        </p:txBody>
      </p:sp>
      <p:sp>
        <p:nvSpPr>
          <p:cNvPr id="83" name="Shape 80"/>
          <p:cNvSpPr/>
          <p:nvPr/>
        </p:nvSpPr>
        <p:spPr>
          <a:xfrm>
            <a:off x="11567160" y="16733520"/>
            <a:ext cx="2743200" cy="1097280"/>
          </a:xfrm>
          <a:prstGeom prst="roundRect">
            <a:avLst>
              <a:gd name="adj" fmla="val 12500"/>
            </a:avLst>
          </a:prstGeom>
          <a:solidFill>
            <a:srgbClr val="1C2128"/>
          </a:solidFill>
          <a:ln w="12700">
            <a:solidFill>
              <a:srgbClr val="30363D"/>
            </a:solidFill>
            <a:prstDash val="solid"/>
          </a:ln>
        </p:spPr>
      </p:sp>
      <p:sp>
        <p:nvSpPr>
          <p:cNvPr id="84" name="Text 81"/>
          <p:cNvSpPr/>
          <p:nvPr/>
        </p:nvSpPr>
        <p:spPr>
          <a:xfrm>
            <a:off x="11658600" y="16916400"/>
            <a:ext cx="2560320" cy="731520"/>
          </a:xfrm>
          <a:prstGeom prst="rect">
            <a:avLst/>
          </a:prstGeom>
          <a:noFill/>
          <a:ln/>
        </p:spPr>
        <p:txBody>
          <a:bodyPr wrap="square" rtlCol="0" anchor="ctr"/>
          <a:lstStyle/>
          <a:p>
            <a:pPr algn="ctr" indent="0" marL="0">
              <a:buNone/>
            </a:pPr>
            <a:r>
              <a:rPr lang="en-US" sz="1600" dirty="0">
                <a:solidFill>
                  <a:srgbClr val="9B59B6"/>
                </a:solidFill>
                <a:latin typeface="Courier New" pitchFamily="34" charset="0"/>
                <a:ea typeface="Courier New" pitchFamily="34" charset="-122"/>
                <a:cs typeface="Courier New" pitchFamily="34" charset="-120"/>
              </a:rPr>
              <a:t>Δf = c/d</a:t>
            </a:r>
            <a:endParaRPr lang="en-US" sz="1600" dirty="0"/>
          </a:p>
        </p:txBody>
      </p:sp>
      <p:sp>
        <p:nvSpPr>
          <p:cNvPr id="85" name="Shape 82"/>
          <p:cNvSpPr/>
          <p:nvPr/>
        </p:nvSpPr>
        <p:spPr>
          <a:xfrm>
            <a:off x="14676120" y="14630400"/>
            <a:ext cx="3017520" cy="3474720"/>
          </a:xfrm>
          <a:prstGeom prst="roundRect">
            <a:avLst>
              <a:gd name="adj" fmla="val 4545"/>
            </a:avLst>
          </a:prstGeom>
          <a:solidFill>
            <a:srgbClr val="161B22"/>
          </a:solidFill>
          <a:ln w="12700">
            <a:solidFill>
              <a:srgbClr val="30363D"/>
            </a:solidFill>
            <a:prstDash val="solid"/>
          </a:ln>
        </p:spPr>
      </p:sp>
      <p:sp>
        <p:nvSpPr>
          <p:cNvPr id="86" name="Shape 83"/>
          <p:cNvSpPr/>
          <p:nvPr/>
        </p:nvSpPr>
        <p:spPr>
          <a:xfrm>
            <a:off x="14676120" y="14630400"/>
            <a:ext cx="3017520" cy="54864"/>
          </a:xfrm>
          <a:prstGeom prst="rect">
            <a:avLst/>
          </a:prstGeom>
          <a:solidFill>
            <a:srgbClr val="E74C3C"/>
          </a:solidFill>
          <a:ln/>
        </p:spPr>
      </p:sp>
      <p:sp>
        <p:nvSpPr>
          <p:cNvPr id="87" name="Text 84"/>
          <p:cNvSpPr/>
          <p:nvPr/>
        </p:nvSpPr>
        <p:spPr>
          <a:xfrm>
            <a:off x="14767560" y="14767560"/>
            <a:ext cx="2834640" cy="411480"/>
          </a:xfrm>
          <a:prstGeom prst="rect">
            <a:avLst/>
          </a:prstGeom>
          <a:noFill/>
          <a:ln/>
        </p:spPr>
        <p:txBody>
          <a:bodyPr wrap="square" rtlCol="0" anchor="ctr"/>
          <a:lstStyle/>
          <a:p>
            <a:pPr indent="0" marL="0">
              <a:buNone/>
            </a:pPr>
            <a:r>
              <a:rPr lang="en-US" sz="2000" b="1" dirty="0">
                <a:solidFill>
                  <a:srgbClr val="E74C3C"/>
                </a:solidFill>
                <a:latin typeface="Arial" pitchFamily="34" charset="0"/>
                <a:ea typeface="Arial" pitchFamily="34" charset="-122"/>
                <a:cs typeface="Arial" pitchFamily="34" charset="-120"/>
              </a:rPr>
              <a:t>IHR*</a:t>
            </a:r>
            <a:endParaRPr lang="en-US" sz="2000" dirty="0"/>
          </a:p>
        </p:txBody>
      </p:sp>
      <p:sp>
        <p:nvSpPr>
          <p:cNvPr id="88" name="Text 85"/>
          <p:cNvSpPr/>
          <p:nvPr/>
        </p:nvSpPr>
        <p:spPr>
          <a:xfrm>
            <a:off x="14767560" y="15179040"/>
            <a:ext cx="2834640" cy="320040"/>
          </a:xfrm>
          <a:prstGeom prst="rect">
            <a:avLst/>
          </a:prstGeom>
          <a:noFill/>
          <a:ln/>
        </p:spPr>
        <p:txBody>
          <a:bodyPr wrap="square" rtlCol="0" anchor="ctr"/>
          <a:lstStyle/>
          <a:p>
            <a:pPr indent="0" marL="0">
              <a:buNone/>
            </a:pPr>
            <a:r>
              <a:rPr lang="en-US" sz="1400" i="1" dirty="0">
                <a:solidFill>
                  <a:srgbClr val="8B949E"/>
                </a:solidFill>
                <a:latin typeface="Arial" pitchFamily="34" charset="0"/>
                <a:ea typeface="Arial" pitchFamily="34" charset="-122"/>
                <a:cs typeface="Arial" pitchFamily="34" charset="-120"/>
              </a:rPr>
              <a:t>Inter-harmonic ratio</a:t>
            </a:r>
            <a:endParaRPr lang="en-US" sz="1400" dirty="0"/>
          </a:p>
        </p:txBody>
      </p:sp>
      <p:sp>
        <p:nvSpPr>
          <p:cNvPr id="89" name="Text 86"/>
          <p:cNvSpPr/>
          <p:nvPr/>
        </p:nvSpPr>
        <p:spPr>
          <a:xfrm>
            <a:off x="14767560" y="15636240"/>
            <a:ext cx="2834640" cy="914400"/>
          </a:xfrm>
          <a:prstGeom prst="rect">
            <a:avLst/>
          </a:prstGeom>
          <a:noFill/>
          <a:ln/>
        </p:spPr>
        <p:txBody>
          <a:bodyPr wrap="square" rtlCol="0" anchor="ctr"/>
          <a:lstStyle/>
          <a:p>
            <a:pPr indent="0" marL="0">
              <a:lnSpc>
                <a:spcPct val="130000"/>
              </a:lnSpc>
              <a:buNone/>
            </a:pPr>
            <a:r>
              <a:rPr lang="en-US" sz="1500" dirty="0">
                <a:solidFill>
                  <a:srgbClr val="E0E6ED"/>
                </a:solidFill>
                <a:latin typeface="Arial" pitchFamily="34" charset="0"/>
                <a:ea typeface="Arial" pitchFamily="34" charset="-122"/>
                <a:cs typeface="Arial" pitchFamily="34" charset="-120"/>
              </a:rPr>
              <a:t>Sideband energy</a:t>
            </a:r>
            <a:endParaRPr lang="en-US" sz="1500" dirty="0"/>
          </a:p>
          <a:p>
            <a:pPr indent="0" marL="0">
              <a:lnSpc>
                <a:spcPct val="130000"/>
              </a:lnSpc>
              <a:buNone/>
            </a:pPr>
            <a:r>
              <a:rPr lang="en-US" sz="1500" dirty="0">
                <a:solidFill>
                  <a:srgbClr val="E0E6ED"/>
                </a:solidFill>
                <a:latin typeface="Arial" pitchFamily="34" charset="0"/>
                <a:ea typeface="Arial" pitchFamily="34" charset="-122"/>
                <a:cs typeface="Arial" pitchFamily="34" charset="-120"/>
              </a:rPr>
              <a:t>analysis (NOVEL)</a:t>
            </a:r>
            <a:endParaRPr lang="en-US" sz="1500" dirty="0"/>
          </a:p>
        </p:txBody>
      </p:sp>
      <p:sp>
        <p:nvSpPr>
          <p:cNvPr id="90" name="Shape 87"/>
          <p:cNvSpPr/>
          <p:nvPr/>
        </p:nvSpPr>
        <p:spPr>
          <a:xfrm>
            <a:off x="14813280" y="16733520"/>
            <a:ext cx="2743200" cy="1097280"/>
          </a:xfrm>
          <a:prstGeom prst="roundRect">
            <a:avLst>
              <a:gd name="adj" fmla="val 12500"/>
            </a:avLst>
          </a:prstGeom>
          <a:solidFill>
            <a:srgbClr val="1C2128"/>
          </a:solidFill>
          <a:ln w="12700">
            <a:solidFill>
              <a:srgbClr val="30363D"/>
            </a:solidFill>
            <a:prstDash val="solid"/>
          </a:ln>
        </p:spPr>
      </p:sp>
      <p:sp>
        <p:nvSpPr>
          <p:cNvPr id="91" name="Text 88"/>
          <p:cNvSpPr/>
          <p:nvPr/>
        </p:nvSpPr>
        <p:spPr>
          <a:xfrm>
            <a:off x="14904720" y="16916400"/>
            <a:ext cx="2560320" cy="731520"/>
          </a:xfrm>
          <a:prstGeom prst="rect">
            <a:avLst/>
          </a:prstGeom>
          <a:noFill/>
          <a:ln/>
        </p:spPr>
        <p:txBody>
          <a:bodyPr wrap="square" rtlCol="0" anchor="ctr"/>
          <a:lstStyle/>
          <a:p>
            <a:pPr algn="ctr" indent="0" marL="0">
              <a:buNone/>
            </a:pPr>
            <a:r>
              <a:rPr lang="en-US" sz="1600" dirty="0">
                <a:solidFill>
                  <a:srgbClr val="E74C3C"/>
                </a:solidFill>
                <a:latin typeface="Courier New" pitchFamily="34" charset="0"/>
                <a:ea typeface="Courier New" pitchFamily="34" charset="-122"/>
                <a:cs typeface="Courier New" pitchFamily="34" charset="-120"/>
              </a:rPr>
              <a:t>E_inter/E_harmonic</a:t>
            </a:r>
            <a:endParaRPr lang="en-US" sz="1600" dirty="0"/>
          </a:p>
        </p:txBody>
      </p:sp>
      <p:sp>
        <p:nvSpPr>
          <p:cNvPr id="92" name="Shape 89"/>
          <p:cNvSpPr/>
          <p:nvPr/>
        </p:nvSpPr>
        <p:spPr>
          <a:xfrm>
            <a:off x="17922240" y="14630400"/>
            <a:ext cx="3017520" cy="3474720"/>
          </a:xfrm>
          <a:prstGeom prst="roundRect">
            <a:avLst>
              <a:gd name="adj" fmla="val 4545"/>
            </a:avLst>
          </a:prstGeom>
          <a:solidFill>
            <a:srgbClr val="161B22"/>
          </a:solidFill>
          <a:ln w="12700">
            <a:solidFill>
              <a:srgbClr val="30363D"/>
            </a:solidFill>
            <a:prstDash val="solid"/>
          </a:ln>
        </p:spPr>
      </p:sp>
      <p:sp>
        <p:nvSpPr>
          <p:cNvPr id="93" name="Shape 90"/>
          <p:cNvSpPr/>
          <p:nvPr/>
        </p:nvSpPr>
        <p:spPr>
          <a:xfrm>
            <a:off x="17922240" y="14630400"/>
            <a:ext cx="3017520" cy="54864"/>
          </a:xfrm>
          <a:prstGeom prst="rect">
            <a:avLst/>
          </a:prstGeom>
          <a:solidFill>
            <a:srgbClr val="2ECC71"/>
          </a:solidFill>
          <a:ln/>
        </p:spPr>
      </p:sp>
      <p:sp>
        <p:nvSpPr>
          <p:cNvPr id="94" name="Text 91"/>
          <p:cNvSpPr/>
          <p:nvPr/>
        </p:nvSpPr>
        <p:spPr>
          <a:xfrm>
            <a:off x="18013680" y="14767560"/>
            <a:ext cx="2834640" cy="411480"/>
          </a:xfrm>
          <a:prstGeom prst="rect">
            <a:avLst/>
          </a:prstGeom>
          <a:noFill/>
          <a:ln/>
        </p:spPr>
        <p:txBody>
          <a:bodyPr wrap="square" rtlCol="0" anchor="ctr"/>
          <a:lstStyle/>
          <a:p>
            <a:pPr indent="0" marL="0">
              <a:buNone/>
            </a:pPr>
            <a:r>
              <a:rPr lang="en-US" sz="2000" b="1" dirty="0">
                <a:solidFill>
                  <a:srgbClr val="2ECC71"/>
                </a:solidFill>
                <a:latin typeface="Arial" pitchFamily="34" charset="0"/>
                <a:ea typeface="Arial" pitchFamily="34" charset="-122"/>
                <a:cs typeface="Arial" pitchFamily="34" charset="-120"/>
              </a:rPr>
              <a:t>PTMR*</a:t>
            </a:r>
            <a:endParaRPr lang="en-US" sz="2000" dirty="0"/>
          </a:p>
        </p:txBody>
      </p:sp>
      <p:sp>
        <p:nvSpPr>
          <p:cNvPr id="95" name="Text 92"/>
          <p:cNvSpPr/>
          <p:nvPr/>
        </p:nvSpPr>
        <p:spPr>
          <a:xfrm>
            <a:off x="18013680" y="15179040"/>
            <a:ext cx="2834640" cy="320040"/>
          </a:xfrm>
          <a:prstGeom prst="rect">
            <a:avLst/>
          </a:prstGeom>
          <a:noFill/>
          <a:ln/>
        </p:spPr>
        <p:txBody>
          <a:bodyPr wrap="square" rtlCol="0" anchor="ctr"/>
          <a:lstStyle/>
          <a:p>
            <a:pPr indent="0" marL="0">
              <a:buNone/>
            </a:pPr>
            <a:r>
              <a:rPr lang="en-US" sz="1400" i="1" dirty="0">
                <a:solidFill>
                  <a:srgbClr val="8B949E"/>
                </a:solidFill>
                <a:latin typeface="Arial" pitchFamily="34" charset="0"/>
                <a:ea typeface="Arial" pitchFamily="34" charset="-122"/>
                <a:cs typeface="Arial" pitchFamily="34" charset="-120"/>
              </a:rPr>
              <a:t>Peak-to-median</a:t>
            </a:r>
            <a:endParaRPr lang="en-US" sz="1400" dirty="0"/>
          </a:p>
        </p:txBody>
      </p:sp>
      <p:sp>
        <p:nvSpPr>
          <p:cNvPr id="96" name="Text 93"/>
          <p:cNvSpPr/>
          <p:nvPr/>
        </p:nvSpPr>
        <p:spPr>
          <a:xfrm>
            <a:off x="18013680" y="15636240"/>
            <a:ext cx="2834640" cy="914400"/>
          </a:xfrm>
          <a:prstGeom prst="rect">
            <a:avLst/>
          </a:prstGeom>
          <a:noFill/>
          <a:ln/>
        </p:spPr>
        <p:txBody>
          <a:bodyPr wrap="square" rtlCol="0" anchor="ctr"/>
          <a:lstStyle/>
          <a:p>
            <a:pPr indent="0" marL="0">
              <a:lnSpc>
                <a:spcPct val="130000"/>
              </a:lnSpc>
              <a:buNone/>
            </a:pPr>
            <a:r>
              <a:rPr lang="en-US" sz="1500" dirty="0">
                <a:solidFill>
                  <a:srgbClr val="E0E6ED"/>
                </a:solidFill>
                <a:latin typeface="Arial" pitchFamily="34" charset="0"/>
                <a:ea typeface="Arial" pitchFamily="34" charset="-122"/>
                <a:cs typeface="Arial" pitchFamily="34" charset="-120"/>
              </a:rPr>
              <a:t>Peak sharpness vs</a:t>
            </a:r>
            <a:endParaRPr lang="en-US" sz="1500" dirty="0"/>
          </a:p>
          <a:p>
            <a:pPr indent="0" marL="0">
              <a:lnSpc>
                <a:spcPct val="130000"/>
              </a:lnSpc>
              <a:buNone/>
            </a:pPr>
            <a:r>
              <a:rPr lang="en-US" sz="1500" dirty="0">
                <a:solidFill>
                  <a:srgbClr val="E0E6ED"/>
                </a:solidFill>
                <a:latin typeface="Arial" pitchFamily="34" charset="0"/>
                <a:ea typeface="Arial" pitchFamily="34" charset="-122"/>
                <a:cs typeface="Arial" pitchFamily="34" charset="-120"/>
              </a:rPr>
              <a:t>neighborhood (NOVEL)</a:t>
            </a:r>
            <a:endParaRPr lang="en-US" sz="1500" dirty="0"/>
          </a:p>
        </p:txBody>
      </p:sp>
      <p:sp>
        <p:nvSpPr>
          <p:cNvPr id="97" name="Shape 94"/>
          <p:cNvSpPr/>
          <p:nvPr/>
        </p:nvSpPr>
        <p:spPr>
          <a:xfrm>
            <a:off x="18059400" y="16733520"/>
            <a:ext cx="2743200" cy="1097280"/>
          </a:xfrm>
          <a:prstGeom prst="roundRect">
            <a:avLst>
              <a:gd name="adj" fmla="val 12500"/>
            </a:avLst>
          </a:prstGeom>
          <a:solidFill>
            <a:srgbClr val="1C2128"/>
          </a:solidFill>
          <a:ln w="12700">
            <a:solidFill>
              <a:srgbClr val="30363D"/>
            </a:solidFill>
            <a:prstDash val="solid"/>
          </a:ln>
        </p:spPr>
      </p:sp>
      <p:sp>
        <p:nvSpPr>
          <p:cNvPr id="98" name="Text 95"/>
          <p:cNvSpPr/>
          <p:nvPr/>
        </p:nvSpPr>
        <p:spPr>
          <a:xfrm>
            <a:off x="18150840" y="16916400"/>
            <a:ext cx="2560320" cy="731520"/>
          </a:xfrm>
          <a:prstGeom prst="rect">
            <a:avLst/>
          </a:prstGeom>
          <a:noFill/>
          <a:ln/>
        </p:spPr>
        <p:txBody>
          <a:bodyPr wrap="square" rtlCol="0" anchor="ctr"/>
          <a:lstStyle/>
          <a:p>
            <a:pPr algn="ctr" indent="0" marL="0">
              <a:buNone/>
            </a:pPr>
            <a:r>
              <a:rPr lang="en-US" sz="1600" dirty="0">
                <a:solidFill>
                  <a:srgbClr val="2ECC71"/>
                </a:solidFill>
                <a:latin typeface="Courier New" pitchFamily="34" charset="0"/>
                <a:ea typeface="Courier New" pitchFamily="34" charset="-122"/>
                <a:cs typeface="Courier New" pitchFamily="34" charset="-120"/>
              </a:rPr>
              <a:t>peak−median(±20)</a:t>
            </a:r>
            <a:endParaRPr lang="en-US" sz="1600" dirty="0"/>
          </a:p>
        </p:txBody>
      </p:sp>
      <p:sp>
        <p:nvSpPr>
          <p:cNvPr id="99" name="Text 96"/>
          <p:cNvSpPr/>
          <p:nvPr/>
        </p:nvSpPr>
        <p:spPr>
          <a:xfrm>
            <a:off x="11430000" y="18470880"/>
            <a:ext cx="9601200" cy="365760"/>
          </a:xfrm>
          <a:prstGeom prst="rect">
            <a:avLst/>
          </a:prstGeom>
          <a:noFill/>
          <a:ln/>
        </p:spPr>
        <p:txBody>
          <a:bodyPr wrap="square" rtlCol="0" anchor="ctr"/>
          <a:lstStyle/>
          <a:p>
            <a:pPr indent="0" marL="0">
              <a:buNone/>
            </a:pPr>
            <a:r>
              <a:rPr lang="en-US" sz="1500" i="1" dirty="0">
                <a:solidFill>
                  <a:srgbClr val="D4A843"/>
                </a:solidFill>
                <a:latin typeface="Arial" pitchFamily="34" charset="0"/>
                <a:ea typeface="Arial" pitchFamily="34" charset="-122"/>
                <a:cs typeface="Arial" pitchFamily="34" charset="-120"/>
              </a:rPr>
              <a:t>* Novel algorithms (not found in prior literature)</a:t>
            </a:r>
            <a:endParaRPr lang="en-US" sz="1500" dirty="0"/>
          </a:p>
        </p:txBody>
      </p:sp>
      <p:sp>
        <p:nvSpPr>
          <p:cNvPr id="100" name="Shape 97"/>
          <p:cNvSpPr/>
          <p:nvPr/>
        </p:nvSpPr>
        <p:spPr>
          <a:xfrm>
            <a:off x="11430000" y="19019520"/>
            <a:ext cx="9601200" cy="73152"/>
          </a:xfrm>
          <a:prstGeom prst="rect">
            <a:avLst/>
          </a:prstGeom>
          <a:solidFill>
            <a:srgbClr val="D4A843"/>
          </a:solidFill>
          <a:ln/>
        </p:spPr>
      </p:sp>
      <p:sp>
        <p:nvSpPr>
          <p:cNvPr id="101" name="Text 98"/>
          <p:cNvSpPr/>
          <p:nvPr/>
        </p:nvSpPr>
        <p:spPr>
          <a:xfrm>
            <a:off x="11430000" y="19202400"/>
            <a:ext cx="9601200" cy="640080"/>
          </a:xfrm>
          <a:prstGeom prst="rect">
            <a:avLst/>
          </a:prstGeom>
          <a:noFill/>
          <a:ln/>
        </p:spPr>
        <p:txBody>
          <a:bodyPr wrap="square" rtlCol="0" anchor="ctr"/>
          <a:lstStyle/>
          <a:p>
            <a:pPr indent="0" marL="0">
              <a:buNone/>
            </a:pPr>
            <a:r>
              <a:rPr lang="en-US" sz="3200" b="1" dirty="0">
                <a:solidFill>
                  <a:srgbClr val="D4A843"/>
                </a:solidFill>
                <a:latin typeface="Arial" pitchFamily="34" charset="0"/>
                <a:ea typeface="Arial" pitchFamily="34" charset="-122"/>
                <a:cs typeface="Arial" pitchFamily="34" charset="-120"/>
              </a:rPr>
              <a:t>CONTENT-ADAPTIVE WEIGHT PROFILES</a:t>
            </a:r>
            <a:endParaRPr lang="en-US" sz="3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0" y="19933920"/>
          <a:ext cx="9601200" cy="914400"/>
        </p:xfrm>
        <a:graphic>
          <a:graphicData uri="http://schemas.openxmlformats.org/drawingml/2006/table">
            <a:tbl>
              <a:tblPr/>
              <a:tblGrid>
                <a:gridCol w="2560320"/>
                <a:gridCol w="1554480"/>
                <a:gridCol w="1554480"/>
                <a:gridCol w="1554480"/>
                <a:gridCol w="1554480"/>
              </a:tblGrid>
              <a:tr h="457200">
                <a:tc>
                  <a:txBody>
                    <a:bodyPr/>
                    <a:lstStyle/>
                    <a:p>
                      <a:pPr indent="0" marL="0">
                        <a:buNone/>
                      </a:pPr>
                      <a:r>
                        <a:rPr lang="en-US" sz="1600" b="1" dirty="0">
                          <a:solidFill>
                            <a:srgbClr val="D4A843"/>
                          </a:solidFill>
                          <a:latin typeface="Arial" pitchFamily="34" charset="0"/>
                          <a:ea typeface="Arial" pitchFamily="34" charset="-122"/>
                          <a:cs typeface="Arial" pitchFamily="34" charset="-120"/>
                        </a:rPr>
                        <a:t>Algorithm</a:t>
                      </a:r>
                      <a:endParaRPr lang="en-US" sz="16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16A085"/>
                          </a:solidFill>
                          <a:latin typeface="Arial" pitchFamily="34" charset="0"/>
                          <a:ea typeface="Arial" pitchFamily="34" charset="-122"/>
                          <a:cs typeface="Arial" pitchFamily="34" charset="-120"/>
                        </a:rPr>
                        <a:t>DEFAULT</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3498DB"/>
                          </a:solidFill>
                          <a:latin typeface="Arial" pitchFamily="34" charset="0"/>
                          <a:ea typeface="Arial" pitchFamily="34" charset="-122"/>
                          <a:cs typeface="Arial" pitchFamily="34" charset="-120"/>
                        </a:rPr>
                        <a:t>SPEECH</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9B59B6"/>
                          </a:solidFill>
                          <a:latin typeface="Arial" pitchFamily="34" charset="0"/>
                          <a:ea typeface="Arial" pitchFamily="34" charset="-122"/>
                          <a:cs typeface="Arial" pitchFamily="34" charset="-120"/>
                        </a:rPr>
                        <a:t>MUSIC</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E74C3C"/>
                          </a:solidFill>
                          <a:latin typeface="Arial" pitchFamily="34" charset="0"/>
                          <a:ea typeface="Arial" pitchFamily="34" charset="-122"/>
                          <a:cs typeface="Arial" pitchFamily="34" charset="-120"/>
                        </a:rPr>
                        <a:t>COMP</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500" dirty="0">
                          <a:solidFill>
                            <a:srgbClr val="E0E6ED"/>
                          </a:solidFill>
                          <a:latin typeface="Arial" pitchFamily="34" charset="0"/>
                          <a:ea typeface="Arial" pitchFamily="34" charset="-122"/>
                          <a:cs typeface="Arial" pitchFamily="34" charset="-120"/>
                        </a:rPr>
                        <a:t>MSD</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0.27</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0.30</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0.07</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0.11</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500" dirty="0">
                          <a:solidFill>
                            <a:srgbClr val="E0E6ED"/>
                          </a:solidFill>
                          <a:latin typeface="Arial" pitchFamily="34" charset="0"/>
                          <a:ea typeface="Arial" pitchFamily="34" charset="-122"/>
                          <a:cs typeface="Arial" pitchFamily="34" charset="-120"/>
                        </a:rPr>
                        <a:t>Phase Coherence</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0.23</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0.22</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0.32</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0.27</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500" dirty="0">
                          <a:solidFill>
                            <a:srgbClr val="E0E6ED"/>
                          </a:solidFill>
                          <a:latin typeface="Arial" pitchFamily="34" charset="0"/>
                          <a:ea typeface="Arial" pitchFamily="34" charset="-122"/>
                          <a:cs typeface="Arial" pitchFamily="34" charset="-120"/>
                        </a:rPr>
                        <a:t>Spectral Flatness</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0.11</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0.09</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0.09</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0.16</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500" dirty="0">
                          <a:solidFill>
                            <a:srgbClr val="E0E6ED"/>
                          </a:solidFill>
                          <a:latin typeface="Arial" pitchFamily="34" charset="0"/>
                          <a:ea typeface="Arial" pitchFamily="34" charset="-122"/>
                          <a:cs typeface="Arial" pitchFamily="34" charset="-120"/>
                        </a:rPr>
                        <a:t>Comb Pattern</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0.07</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0.04</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0.07</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0.07</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500" dirty="0">
                          <a:solidFill>
                            <a:srgbClr val="E0E6ED"/>
                          </a:solidFill>
                          <a:latin typeface="Arial" pitchFamily="34" charset="0"/>
                          <a:ea typeface="Arial" pitchFamily="34" charset="-122"/>
                          <a:cs typeface="Arial" pitchFamily="34" charset="-120"/>
                        </a:rPr>
                        <a:t>IHR</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0.12</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0.09</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0.22</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0.16</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500" dirty="0">
                          <a:solidFill>
                            <a:srgbClr val="E0E6ED"/>
                          </a:solidFill>
                          <a:latin typeface="Arial" pitchFamily="34" charset="0"/>
                          <a:ea typeface="Arial" pitchFamily="34" charset="-122"/>
                          <a:cs typeface="Arial" pitchFamily="34" charset="-120"/>
                        </a:rPr>
                        <a:t>PTMR</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0.10</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0.16</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0.13</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0.13</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500" dirty="0">
                          <a:solidFill>
                            <a:srgbClr val="E0E6ED"/>
                          </a:solidFill>
                          <a:latin typeface="Arial" pitchFamily="34" charset="0"/>
                          <a:ea typeface="Arial" pitchFamily="34" charset="-122"/>
                          <a:cs typeface="Arial" pitchFamily="34" charset="-120"/>
                        </a:rPr>
                        <a:t>ML Meta-Model</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0.10</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0.10</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0.10</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E0E6ED"/>
                          </a:solidFill>
                          <a:latin typeface="Arial" pitchFamily="34" charset="0"/>
                          <a:ea typeface="Arial" pitchFamily="34" charset="-122"/>
                          <a:cs typeface="Arial" pitchFamily="34" charset="-120"/>
                        </a:rPr>
                        <a:t>0.10</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bl>
          </a:graphicData>
        </a:graphic>
      </p:graphicFrame>
      <p:sp>
        <p:nvSpPr>
          <p:cNvPr id="103" name="Shape 99"/>
          <p:cNvSpPr/>
          <p:nvPr/>
        </p:nvSpPr>
        <p:spPr>
          <a:xfrm>
            <a:off x="11430000" y="23865840"/>
            <a:ext cx="9601200" cy="73152"/>
          </a:xfrm>
          <a:prstGeom prst="rect">
            <a:avLst/>
          </a:prstGeom>
          <a:solidFill>
            <a:srgbClr val="E74C3C"/>
          </a:solidFill>
          <a:ln/>
        </p:spPr>
      </p:sp>
      <p:sp>
        <p:nvSpPr>
          <p:cNvPr id="104" name="Text 100"/>
          <p:cNvSpPr/>
          <p:nvPr/>
        </p:nvSpPr>
        <p:spPr>
          <a:xfrm>
            <a:off x="11430000" y="24048720"/>
            <a:ext cx="9601200" cy="640080"/>
          </a:xfrm>
          <a:prstGeom prst="rect">
            <a:avLst/>
          </a:prstGeom>
          <a:noFill/>
          <a:ln/>
        </p:spPr>
        <p:txBody>
          <a:bodyPr wrap="square" rtlCol="0" anchor="ctr"/>
          <a:lstStyle/>
          <a:p>
            <a:pPr indent="0" marL="0">
              <a:buNone/>
            </a:pPr>
            <a:r>
              <a:rPr lang="en-US" sz="3200" b="1" dirty="0">
                <a:solidFill>
                  <a:srgbClr val="E74C3C"/>
                </a:solidFill>
                <a:latin typeface="Arial" pitchFamily="34" charset="0"/>
                <a:ea typeface="Arial" pitchFamily="34" charset="-122"/>
                <a:cs typeface="Arial" pitchFamily="34" charset="-120"/>
              </a:rPr>
              <a:t>MULTIPLICATIVE GATES</a:t>
            </a:r>
            <a:endParaRPr lang="en-US" sz="32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11430000" y="24780240"/>
          <a:ext cx="9601200" cy="914400"/>
        </p:xfrm>
        <a:graphic>
          <a:graphicData uri="http://schemas.openxmlformats.org/drawingml/2006/table">
            <a:tbl>
              <a:tblPr/>
              <a:tblGrid>
                <a:gridCol w="2011680"/>
                <a:gridCol w="1371600"/>
                <a:gridCol w="3474720"/>
                <a:gridCol w="2743200"/>
              </a:tblGrid>
              <a:tr h="457200">
                <a:tc>
                  <a:txBody>
                    <a:bodyPr/>
                    <a:lstStyle/>
                    <a:p>
                      <a:pPr indent="0" marL="0">
                        <a:buNone/>
                      </a:pPr>
                      <a:r>
                        <a:rPr lang="en-US" sz="1500" b="1" dirty="0">
                          <a:solidFill>
                            <a:srgbClr val="D4A843"/>
                          </a:solidFill>
                          <a:latin typeface="Arial" pitchFamily="34" charset="0"/>
                          <a:ea typeface="Arial" pitchFamily="34" charset="-122"/>
                          <a:cs typeface="Arial" pitchFamily="34" charset="-120"/>
                        </a:rPr>
                        <a:t>Gate</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b="1" dirty="0">
                          <a:solidFill>
                            <a:srgbClr val="D4A843"/>
                          </a:solidFill>
                          <a:latin typeface="Arial" pitchFamily="34" charset="0"/>
                          <a:ea typeface="Arial" pitchFamily="34" charset="-122"/>
                          <a:cs typeface="Arial" pitchFamily="34" charset="-120"/>
                        </a:rPr>
                        <a:t>Multiplier</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b="1" dirty="0">
                          <a:solidFill>
                            <a:srgbClr val="D4A843"/>
                          </a:solidFill>
                          <a:latin typeface="Arial" pitchFamily="34" charset="0"/>
                          <a:ea typeface="Arial" pitchFamily="34" charset="-122"/>
                          <a:cs typeface="Arial" pitchFamily="34" charset="-120"/>
                        </a:rPr>
                        <a:t>Purpose</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b="1" dirty="0">
                          <a:solidFill>
                            <a:srgbClr val="D4A843"/>
                          </a:solidFill>
                          <a:latin typeface="Arial" pitchFamily="34" charset="0"/>
                          <a:ea typeface="Arial" pitchFamily="34" charset="-122"/>
                          <a:cs typeface="Arial" pitchFamily="34" charset="-120"/>
                        </a:rPr>
                        <a:t>Room Mode?</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IHR Gate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×0.65</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Suppress instruments (harmonics &gt; 3)</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NOT TRIGGERED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PTMR Gate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×0.80</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Suppress broad peaks</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NOT TRIGGERED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Comb Stability</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×0.25</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Suppress sweeping effects</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NOT TRIGGERED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Formant Gate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×0.65</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Suppress sustained vowels</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NOT TRIGGERED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Chromatic Gate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×0.60</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Suppress Auto-Tune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NOT TRIGGERED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bl>
          </a:graphicData>
        </a:graphic>
      </p:graphicFrame>
      <p:sp>
        <p:nvSpPr>
          <p:cNvPr id="106" name="Text 101"/>
          <p:cNvSpPr/>
          <p:nvPr/>
        </p:nvSpPr>
        <p:spPr>
          <a:xfrm>
            <a:off x="11430000" y="27614880"/>
            <a:ext cx="9601200" cy="365760"/>
          </a:xfrm>
          <a:prstGeom prst="rect">
            <a:avLst/>
          </a:prstGeom>
          <a:noFill/>
          <a:ln/>
        </p:spPr>
        <p:txBody>
          <a:bodyPr wrap="square" rtlCol="0" anchor="ctr"/>
          <a:lstStyle/>
          <a:p>
            <a:pPr indent="0" marL="0">
              <a:buNone/>
            </a:pPr>
            <a:r>
              <a:rPr lang="en-US" sz="1600" b="1" i="1" dirty="0">
                <a:solidFill>
                  <a:srgbClr val="16A085"/>
                </a:solidFill>
                <a:latin typeface="Arial" pitchFamily="34" charset="0"/>
                <a:ea typeface="Arial" pitchFamily="34" charset="-122"/>
                <a:cs typeface="Arial" pitchFamily="34" charset="-120"/>
              </a:rPr>
              <a:t>Room modes pass through the entire detection pipeline without suppression.</a:t>
            </a:r>
            <a:endParaRPr lang="en-US" sz="1600" dirty="0"/>
          </a:p>
        </p:txBody>
      </p:sp>
      <p:sp>
        <p:nvSpPr>
          <p:cNvPr id="107" name="Shape 102"/>
          <p:cNvSpPr/>
          <p:nvPr/>
        </p:nvSpPr>
        <p:spPr>
          <a:xfrm>
            <a:off x="21945600" y="5486400"/>
            <a:ext cx="9601200" cy="73152"/>
          </a:xfrm>
          <a:prstGeom prst="rect">
            <a:avLst/>
          </a:prstGeom>
          <a:solidFill>
            <a:srgbClr val="16A085"/>
          </a:solidFill>
          <a:ln/>
        </p:spPr>
      </p:sp>
      <p:sp>
        <p:nvSpPr>
          <p:cNvPr id="108" name="Text 103"/>
          <p:cNvSpPr/>
          <p:nvPr/>
        </p:nvSpPr>
        <p:spPr>
          <a:xfrm>
            <a:off x="21945600" y="5669280"/>
            <a:ext cx="9601200" cy="640080"/>
          </a:xfrm>
          <a:prstGeom prst="rect">
            <a:avLst/>
          </a:prstGeom>
          <a:noFill/>
          <a:ln/>
        </p:spPr>
        <p:txBody>
          <a:bodyPr wrap="square" rtlCol="0" anchor="ctr"/>
          <a:lstStyle/>
          <a:p>
            <a:pPr indent="0" marL="0">
              <a:buNone/>
            </a:pPr>
            <a:r>
              <a:rPr lang="en-US" sz="3200" b="1" dirty="0">
                <a:solidFill>
                  <a:srgbClr val="16A085"/>
                </a:solidFill>
                <a:latin typeface="Arial" pitchFamily="34" charset="0"/>
                <a:ea typeface="Arial" pitchFamily="34" charset="-122"/>
                <a:cs typeface="Arial" pitchFamily="34" charset="-120"/>
              </a:rPr>
              <a:t>ALGORITHM SCORE COMPARISON</a:t>
            </a:r>
            <a:endParaRPr lang="en-US" sz="3200" dirty="0"/>
          </a:p>
        </p:txBody>
      </p:sp>
      <p:sp>
        <p:nvSpPr>
          <p:cNvPr id="109" name="Shape 104"/>
          <p:cNvSpPr/>
          <p:nvPr/>
        </p:nvSpPr>
        <p:spPr>
          <a:xfrm>
            <a:off x="21945600" y="6400800"/>
            <a:ext cx="9601200" cy="548640"/>
          </a:xfrm>
          <a:prstGeom prst="roundRect">
            <a:avLst>
              <a:gd name="adj" fmla="val 25000"/>
            </a:avLst>
          </a:prstGeom>
          <a:solidFill>
            <a:srgbClr val="161B22"/>
          </a:solidFill>
          <a:ln w="12700">
            <a:solidFill>
              <a:srgbClr val="30363D"/>
            </a:solidFill>
            <a:prstDash val="solid"/>
          </a:ln>
        </p:spPr>
      </p:sp>
      <p:sp>
        <p:nvSpPr>
          <p:cNvPr id="110" name="Text 105"/>
          <p:cNvSpPr/>
          <p:nvPr/>
        </p:nvSpPr>
        <p:spPr>
          <a:xfrm>
            <a:off x="22128480" y="6492240"/>
            <a:ext cx="9235440" cy="365760"/>
          </a:xfrm>
          <a:prstGeom prst="rect">
            <a:avLst/>
          </a:prstGeom>
          <a:noFill/>
          <a:ln/>
        </p:spPr>
        <p:txBody>
          <a:bodyPr wrap="square" rtlCol="0" anchor="ctr"/>
          <a:lstStyle/>
          <a:p>
            <a:pPr algn="ctr" indent="0" marL="0">
              <a:buNone/>
            </a:pPr>
            <a:r>
              <a:rPr lang="en-US" sz="1600" i="1" dirty="0">
                <a:solidFill>
                  <a:srgbClr val="8B949E"/>
                </a:solidFill>
                <a:latin typeface="Arial" pitchFamily="34" charset="0"/>
                <a:ea typeface="Arial" pitchFamily="34" charset="-122"/>
                <a:cs typeface="Arial" pitchFamily="34" charset="-120"/>
              </a:rPr>
              <a:t>Room Resonance vs. Acoustic Feedback — All Six Algorithms</a:t>
            </a:r>
            <a:endParaRPr lang="en-US" sz="160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21945600" y="7040880"/>
          <a:ext cx="9601200" cy="914400"/>
        </p:xfrm>
        <a:graphic>
          <a:graphicData uri="http://schemas.openxmlformats.org/drawingml/2006/table">
            <a:tbl>
              <a:tblPr/>
              <a:tblGrid>
                <a:gridCol w="2194560"/>
                <a:gridCol w="2286000"/>
                <a:gridCol w="2286000"/>
                <a:gridCol w="2743200"/>
              </a:tblGrid>
              <a:tr h="457200">
                <a:tc>
                  <a:txBody>
                    <a:bodyPr/>
                    <a:lstStyle/>
                    <a:p>
                      <a:pPr indent="0" marL="0">
                        <a:buNone/>
                      </a:pPr>
                      <a:r>
                        <a:rPr lang="en-US" sz="1500" b="1" dirty="0">
                          <a:solidFill>
                            <a:srgbClr val="D4A843"/>
                          </a:solidFill>
                          <a:latin typeface="Arial" pitchFamily="34" charset="0"/>
                          <a:ea typeface="Arial" pitchFamily="34" charset="-122"/>
                          <a:cs typeface="Arial" pitchFamily="34" charset="-120"/>
                        </a:rPr>
                        <a:t>Algorithm</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b="1" dirty="0">
                          <a:solidFill>
                            <a:srgbClr val="D4A843"/>
                          </a:solidFill>
                          <a:latin typeface="Arial" pitchFamily="34" charset="0"/>
                          <a:ea typeface="Arial" pitchFamily="34" charset="-122"/>
                          <a:cs typeface="Arial" pitchFamily="34" charset="-120"/>
                        </a:rPr>
                        <a:t>Room Mode</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b="1" dirty="0">
                          <a:solidFill>
                            <a:srgbClr val="D4A843"/>
                          </a:solidFill>
                          <a:latin typeface="Arial" pitchFamily="34" charset="0"/>
                          <a:ea typeface="Arial" pitchFamily="34" charset="-122"/>
                          <a:cs typeface="Arial" pitchFamily="34" charset="-120"/>
                        </a:rPr>
                        <a:t>Feedback</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b="1" dirty="0">
                          <a:solidFill>
                            <a:srgbClr val="D4A843"/>
                          </a:solidFill>
                          <a:latin typeface="Arial" pitchFamily="34" charset="0"/>
                          <a:ea typeface="Arial" pitchFamily="34" charset="-122"/>
                          <a:cs typeface="Arial" pitchFamily="34" charset="-120"/>
                        </a:rPr>
                        <a:t>Verdict</a:t>
                      </a:r>
                      <a:endParaRPr lang="en-US" sz="15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MSD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 0 (stable)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 0 (stable)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16A085"/>
                          </a:solidFill>
                          <a:latin typeface="Arial" pitchFamily="34" charset="0"/>
                          <a:ea typeface="Arial" pitchFamily="34" charset="-122"/>
                          <a:cs typeface="Arial" pitchFamily="34" charset="-120"/>
                        </a:rPr>
                        <a:t>IDENTICAL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Phase Coherence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0.85-0.95</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0.85-0.95</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16A085"/>
                          </a:solidFill>
                          <a:latin typeface="Arial" pitchFamily="34" charset="0"/>
                          <a:ea typeface="Arial" pitchFamily="34" charset="-122"/>
                          <a:cs typeface="Arial" pitchFamily="34" charset="-120"/>
                        </a:rPr>
                        <a:t>IDENTICAL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Spectral Flatness</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&lt; 0.05 (tonal)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&lt; 0.05 (tonal)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16A085"/>
                          </a:solidFill>
                          <a:latin typeface="Arial" pitchFamily="34" charset="0"/>
                          <a:ea typeface="Arial" pitchFamily="34" charset="-122"/>
                          <a:cs typeface="Arial" pitchFamily="34" charset="-120"/>
                        </a:rPr>
                        <a:t>IDENTICAL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Comb Pattern</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Matches axial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Matches loop</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16A085"/>
                          </a:solidFill>
                          <a:latin typeface="Arial" pitchFamily="34" charset="0"/>
                          <a:ea typeface="Arial" pitchFamily="34" charset="-122"/>
                          <a:cs typeface="Arial" pitchFamily="34" charset="-120"/>
                        </a:rPr>
                        <a:t>IDENTICAL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IHR</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 0 (clean)</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 0 (pure tone)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16A085"/>
                          </a:solidFill>
                          <a:latin typeface="Arial" pitchFamily="34" charset="0"/>
                          <a:ea typeface="Arial" pitchFamily="34" charset="-122"/>
                          <a:cs typeface="Arial" pitchFamily="34" charset="-120"/>
                        </a:rPr>
                        <a:t>IDENTICAL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indent="0" marL="0">
                        <a:buNone/>
                      </a:pPr>
                      <a:r>
                        <a:rPr lang="en-US" sz="1400" dirty="0">
                          <a:solidFill>
                            <a:srgbClr val="E0E6ED"/>
                          </a:solidFill>
                          <a:latin typeface="Arial" pitchFamily="34" charset="0"/>
                          <a:ea typeface="Arial" pitchFamily="34" charset="-122"/>
                          <a:cs typeface="Arial" pitchFamily="34" charset="-120"/>
                        </a:rPr>
                        <a:t>PTMR</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High (narrow)</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High (narrow)</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D4A843"/>
                          </a:solidFill>
                          <a:latin typeface="Arial" pitchFamily="34" charset="0"/>
                          <a:ea typeface="Arial" pitchFamily="34" charset="-122"/>
                          <a:cs typeface="Arial" pitchFamily="34" charset="-120"/>
                        </a:rPr>
                        <a:t>NEAR-IDENTICAL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bl>
          </a:graphicData>
        </a:graphic>
      </p:graphicFrame>
      <p:sp>
        <p:nvSpPr>
          <p:cNvPr id="112" name="Shape 106"/>
          <p:cNvSpPr/>
          <p:nvPr/>
        </p:nvSpPr>
        <p:spPr>
          <a:xfrm>
            <a:off x="21945600" y="10698480"/>
            <a:ext cx="9601200" cy="73152"/>
          </a:xfrm>
          <a:prstGeom prst="rect">
            <a:avLst/>
          </a:prstGeom>
          <a:solidFill>
            <a:srgbClr val="D4A843"/>
          </a:solidFill>
          <a:ln/>
        </p:spPr>
      </p:sp>
      <p:sp>
        <p:nvSpPr>
          <p:cNvPr id="113" name="Text 107"/>
          <p:cNvSpPr/>
          <p:nvPr/>
        </p:nvSpPr>
        <p:spPr>
          <a:xfrm>
            <a:off x="21945600" y="10881360"/>
            <a:ext cx="9601200" cy="640080"/>
          </a:xfrm>
          <a:prstGeom prst="rect">
            <a:avLst/>
          </a:prstGeom>
          <a:noFill/>
          <a:ln/>
        </p:spPr>
        <p:txBody>
          <a:bodyPr wrap="square" rtlCol="0" anchor="ctr"/>
          <a:lstStyle/>
          <a:p>
            <a:pPr indent="0" marL="0">
              <a:buNone/>
            </a:pPr>
            <a:r>
              <a:rPr lang="en-US" sz="3200" b="1" dirty="0">
                <a:solidFill>
                  <a:srgbClr val="D4A843"/>
                </a:solidFill>
                <a:latin typeface="Arial" pitchFamily="34" charset="0"/>
                <a:ea typeface="Arial" pitchFamily="34" charset="-122"/>
                <a:cs typeface="Arial" pitchFamily="34" charset="-120"/>
              </a:rPr>
              <a:t>COMPARISON WITH EXISTING TOOLS</a:t>
            </a:r>
            <a:endParaRPr lang="en-US" sz="3200" dirty="0"/>
          </a:p>
        </p:txBody>
      </p:sp>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21945600" y="11612880"/>
          <a:ext cx="9601200" cy="914400"/>
        </p:xfrm>
        <a:graphic>
          <a:graphicData uri="http://schemas.openxmlformats.org/drawingml/2006/table">
            <a:tbl>
              <a:tblPr/>
              <a:tblGrid>
                <a:gridCol w="2011680"/>
                <a:gridCol w="1463040"/>
                <a:gridCol w="1645920"/>
                <a:gridCol w="1463040"/>
                <a:gridCol w="1463040"/>
              </a:tblGrid>
              <a:tr h="411480">
                <a:tc>
                  <a:txBody>
                    <a:bodyPr/>
                    <a:lstStyle/>
                    <a:p>
                      <a:pPr indent="0" marL="0">
                        <a:buNone/>
                      </a:pPr>
                      <a:r>
                        <a:rPr lang="en-US" sz="1400" b="1" dirty="0">
                          <a:solidFill>
                            <a:srgbClr val="D4A843"/>
                          </a:solidFill>
                          <a:latin typeface="Arial" pitchFamily="34" charset="0"/>
                          <a:ea typeface="Arial" pitchFamily="34" charset="-122"/>
                          <a:cs typeface="Arial" pitchFamily="34" charset="-120"/>
                        </a:rPr>
                        <a:t>Feature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16A085"/>
                          </a:solidFill>
                          <a:latin typeface="Arial" pitchFamily="34" charset="0"/>
                          <a:ea typeface="Arial" pitchFamily="34" charset="-122"/>
                          <a:cs typeface="Arial" pitchFamily="34" charset="-120"/>
                        </a:rPr>
                        <a:t>KTR</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8B949E"/>
                          </a:solidFill>
                          <a:latin typeface="Arial" pitchFamily="34" charset="0"/>
                          <a:ea typeface="Arial" pitchFamily="34" charset="-122"/>
                          <a:cs typeface="Arial" pitchFamily="34" charset="-120"/>
                        </a:rPr>
                        <a:t>Smaart</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8B949E"/>
                          </a:solidFill>
                          <a:latin typeface="Arial" pitchFamily="34" charset="0"/>
                          <a:ea typeface="Arial" pitchFamily="34" charset="-122"/>
                          <a:cs typeface="Arial" pitchFamily="34" charset="-120"/>
                        </a:rPr>
                        <a:t>REW</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8B949E"/>
                          </a:solidFill>
                          <a:latin typeface="Arial" pitchFamily="34" charset="0"/>
                          <a:ea typeface="Arial" pitchFamily="34" charset="-122"/>
                          <a:cs typeface="Arial" pitchFamily="34" charset="-120"/>
                        </a:rPr>
                        <a:t>Dirac</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400" dirty="0">
                          <a:solidFill>
                            <a:srgbClr val="E0E6ED"/>
                          </a:solidFill>
                          <a:latin typeface="Arial" pitchFamily="34" charset="0"/>
                          <a:ea typeface="Arial" pitchFamily="34" charset="-122"/>
                          <a:cs typeface="Arial" pitchFamily="34" charset="-120"/>
                        </a:rPr>
                        <a:t>Test signal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None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Pink noise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Sweep</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Sweep</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400" dirty="0">
                          <a:solidFill>
                            <a:srgbClr val="E0E6ED"/>
                          </a:solidFill>
                          <a:latin typeface="Arial" pitchFamily="34" charset="0"/>
                          <a:ea typeface="Arial" pitchFamily="34" charset="-122"/>
                          <a:cs typeface="Arial" pitchFamily="34" charset="-120"/>
                        </a:rPr>
                        <a:t>Cal. mic</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None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Required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Required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Required</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400" dirty="0">
                          <a:solidFill>
                            <a:srgbClr val="E0E6ED"/>
                          </a:solidFill>
                          <a:latin typeface="Arial" pitchFamily="34" charset="0"/>
                          <a:ea typeface="Arial" pitchFamily="34" charset="-122"/>
                          <a:cs typeface="Arial" pitchFamily="34" charset="-120"/>
                        </a:rPr>
                        <a:t>Real-time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50fps</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400" dirty="0">
                          <a:solidFill>
                            <a:srgbClr val="E0E6ED"/>
                          </a:solidFill>
                          <a:latin typeface="Arial" pitchFamily="34" charset="0"/>
                          <a:ea typeface="Arial" pitchFamily="34" charset="-122"/>
                          <a:cs typeface="Arial" pitchFamily="34" charset="-120"/>
                        </a:rPr>
                        <a:t>Audience OK</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Difficult</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400" dirty="0">
                          <a:solidFill>
                            <a:srgbClr val="E0E6ED"/>
                          </a:solidFill>
                          <a:latin typeface="Arial" pitchFamily="34" charset="0"/>
                          <a:ea typeface="Arial" pitchFamily="34" charset="-122"/>
                          <a:cs typeface="Arial" pitchFamily="34" charset="-120"/>
                        </a:rPr>
                        <a:t>Setup time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0 sec</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15-30m</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10-20m</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15-30m</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400" dirty="0">
                          <a:solidFill>
                            <a:srgbClr val="E0E6ED"/>
                          </a:solidFill>
                          <a:latin typeface="Arial" pitchFamily="34" charset="0"/>
                          <a:ea typeface="Arial" pitchFamily="34" charset="-122"/>
                          <a:cs typeface="Arial" pitchFamily="34" charset="-120"/>
                        </a:rPr>
                        <a:t>EQ output</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Auto</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Manual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Manual</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Auto</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400" dirty="0">
                          <a:solidFill>
                            <a:srgbClr val="E0E6ED"/>
                          </a:solidFill>
                          <a:latin typeface="Arial" pitchFamily="34" charset="0"/>
                          <a:ea typeface="Arial" pitchFamily="34" charset="-122"/>
                          <a:cs typeface="Arial" pitchFamily="34" charset="-120"/>
                        </a:rPr>
                        <a:t>Cost</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b="1" dirty="0">
                          <a:solidFill>
                            <a:srgbClr val="2ECC71"/>
                          </a:solidFill>
                          <a:latin typeface="Arial" pitchFamily="34" charset="0"/>
                          <a:ea typeface="Arial" pitchFamily="34" charset="-122"/>
                          <a:cs typeface="Arial" pitchFamily="34" charset="-120"/>
                        </a:rPr>
                        <a:t>Free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$800+</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Free</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E0E6ED"/>
                          </a:solidFill>
                          <a:latin typeface="Arial" pitchFamily="34" charset="0"/>
                          <a:ea typeface="Arial" pitchFamily="34" charset="-122"/>
                          <a:cs typeface="Arial" pitchFamily="34" charset="-120"/>
                        </a:rPr>
                        <a:t>$400+</a:t>
                      </a:r>
                      <a:endParaRPr lang="en-US" sz="1400" dirty="0">
                        <a:latin typeface="Arial" charset="0"/>
                        <a:ea typeface="Arial" charset="0"/>
                        <a:cs typeface="Arial" charset="0"/>
                      </a:endParaRPr>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bl>
          </a:graphicData>
        </a:graphic>
      </p:graphicFrame>
      <p:sp>
        <p:nvSpPr>
          <p:cNvPr id="115" name="Shape 108"/>
          <p:cNvSpPr/>
          <p:nvPr/>
        </p:nvSpPr>
        <p:spPr>
          <a:xfrm>
            <a:off x="21945600" y="15179040"/>
            <a:ext cx="9601200" cy="73152"/>
          </a:xfrm>
          <a:prstGeom prst="rect">
            <a:avLst/>
          </a:prstGeom>
          <a:solidFill>
            <a:srgbClr val="2ECC71"/>
          </a:solidFill>
          <a:ln/>
        </p:spPr>
      </p:sp>
      <p:sp>
        <p:nvSpPr>
          <p:cNvPr id="116" name="Text 109"/>
          <p:cNvSpPr/>
          <p:nvPr/>
        </p:nvSpPr>
        <p:spPr>
          <a:xfrm>
            <a:off x="21945600" y="15361920"/>
            <a:ext cx="9601200" cy="640080"/>
          </a:xfrm>
          <a:prstGeom prst="rect">
            <a:avLst/>
          </a:prstGeom>
          <a:noFill/>
          <a:ln/>
        </p:spPr>
        <p:txBody>
          <a:bodyPr wrap="square" rtlCol="0" anchor="ctr"/>
          <a:lstStyle/>
          <a:p>
            <a:pPr indent="0" marL="0">
              <a:buNone/>
            </a:pPr>
            <a:r>
              <a:rPr lang="en-US" sz="3200" b="1" dirty="0">
                <a:solidFill>
                  <a:srgbClr val="2ECC71"/>
                </a:solidFill>
                <a:latin typeface="Arial" pitchFamily="34" charset="0"/>
                <a:ea typeface="Arial" pitchFamily="34" charset="-122"/>
                <a:cs typeface="Arial" pitchFamily="34" charset="-120"/>
              </a:rPr>
              <a:t>SAMPLE EQ ADVISORY OUTPUT</a:t>
            </a:r>
            <a:endParaRPr lang="en-US" sz="3200" dirty="0"/>
          </a:p>
        </p:txBody>
      </p:sp>
      <p:sp>
        <p:nvSpPr>
          <p:cNvPr id="117" name="Shape 110"/>
          <p:cNvSpPr/>
          <p:nvPr/>
        </p:nvSpPr>
        <p:spPr>
          <a:xfrm>
            <a:off x="21945600" y="16093440"/>
            <a:ext cx="9601200" cy="4114800"/>
          </a:xfrm>
          <a:prstGeom prst="roundRect">
            <a:avLst>
              <a:gd name="adj" fmla="val 3333"/>
            </a:avLst>
          </a:prstGeom>
          <a:solidFill>
            <a:srgbClr val="1C2128"/>
          </a:solidFill>
          <a:ln w="12700">
            <a:solidFill>
              <a:srgbClr val="2ECC71"/>
            </a:solidFill>
            <a:prstDash val="solid"/>
          </a:ln>
        </p:spPr>
      </p:sp>
      <p:sp>
        <p:nvSpPr>
          <p:cNvPr id="118" name="Text 111"/>
          <p:cNvSpPr/>
          <p:nvPr/>
        </p:nvSpPr>
        <p:spPr>
          <a:xfrm>
            <a:off x="22219920" y="16276320"/>
            <a:ext cx="9052560" cy="457200"/>
          </a:xfrm>
          <a:prstGeom prst="rect">
            <a:avLst/>
          </a:prstGeom>
          <a:noFill/>
          <a:ln/>
        </p:spPr>
        <p:txBody>
          <a:bodyPr wrap="square" rtlCol="0" anchor="ctr"/>
          <a:lstStyle/>
          <a:p>
            <a:pPr indent="0" marL="0">
              <a:buNone/>
            </a:pPr>
            <a:r>
              <a:rPr lang="en-US" sz="1600" dirty="0">
                <a:solidFill>
                  <a:srgbClr val="8B949E"/>
                </a:solidFill>
                <a:latin typeface="Courier New" pitchFamily="34" charset="0"/>
                <a:ea typeface="Courier New" pitchFamily="34" charset="-122"/>
                <a:cs typeface="Courier New" pitchFamily="34" charset="-120"/>
              </a:rPr>
              <a:t>  FREQ          NOTE    Q        CUT         SEVERITY</a:t>
            </a:r>
            <a:endParaRPr lang="en-US" sz="1600" dirty="0"/>
          </a:p>
        </p:txBody>
      </p:sp>
      <p:sp>
        <p:nvSpPr>
          <p:cNvPr id="119" name="Text 112"/>
          <p:cNvSpPr/>
          <p:nvPr/>
        </p:nvSpPr>
        <p:spPr>
          <a:xfrm>
            <a:off x="22219920" y="16824960"/>
            <a:ext cx="9052560" cy="457200"/>
          </a:xfrm>
          <a:prstGeom prst="rect">
            <a:avLst/>
          </a:prstGeom>
          <a:noFill/>
          <a:ln/>
        </p:spPr>
        <p:txBody>
          <a:bodyPr wrap="square" rtlCol="0" anchor="ctr"/>
          <a:lstStyle/>
          <a:p>
            <a:pPr indent="0" marL="0">
              <a:buNone/>
            </a:pPr>
            <a:r>
              <a:rPr lang="en-US" sz="1800" dirty="0">
                <a:solidFill>
                  <a:srgbClr val="D4A843"/>
                </a:solidFill>
                <a:latin typeface="Courier New" pitchFamily="34" charset="0"/>
                <a:ea typeface="Courier New" pitchFamily="34" charset="-122"/>
                <a:cs typeface="Courier New" pitchFamily="34" charset="-120"/>
              </a:rPr>
              <a:t>  127 Hz        B2      12.4     -3.8 dB     MODERATE</a:t>
            </a:r>
            <a:endParaRPr lang="en-US" sz="1800" dirty="0"/>
          </a:p>
        </p:txBody>
      </p:sp>
      <p:sp>
        <p:nvSpPr>
          <p:cNvPr id="120" name="Text 113"/>
          <p:cNvSpPr/>
          <p:nvPr/>
        </p:nvSpPr>
        <p:spPr>
          <a:xfrm>
            <a:off x="22219920" y="17373600"/>
            <a:ext cx="9052560" cy="457200"/>
          </a:xfrm>
          <a:prstGeom prst="rect">
            <a:avLst/>
          </a:prstGeom>
          <a:noFill/>
          <a:ln/>
        </p:spPr>
        <p:txBody>
          <a:bodyPr wrap="square" rtlCol="0" anchor="ctr"/>
          <a:lstStyle/>
          <a:p>
            <a:pPr indent="0" marL="0">
              <a:buNone/>
            </a:pPr>
            <a:r>
              <a:rPr lang="en-US" sz="1800" dirty="0">
                <a:solidFill>
                  <a:srgbClr val="D4A843"/>
                </a:solidFill>
                <a:latin typeface="Courier New" pitchFamily="34" charset="0"/>
                <a:ea typeface="Courier New" pitchFamily="34" charset="-122"/>
                <a:cs typeface="Courier New" pitchFamily="34" charset="-120"/>
              </a:rPr>
              <a:t>  247 Hz        B3      8.3      -4.2 dB     MODERATE</a:t>
            </a:r>
            <a:endParaRPr lang="en-US" sz="1800" dirty="0"/>
          </a:p>
        </p:txBody>
      </p:sp>
      <p:sp>
        <p:nvSpPr>
          <p:cNvPr id="121" name="Text 114"/>
          <p:cNvSpPr/>
          <p:nvPr/>
        </p:nvSpPr>
        <p:spPr>
          <a:xfrm>
            <a:off x="22219920" y="17922240"/>
            <a:ext cx="9052560" cy="457200"/>
          </a:xfrm>
          <a:prstGeom prst="rect">
            <a:avLst/>
          </a:prstGeom>
          <a:noFill/>
          <a:ln/>
        </p:spPr>
        <p:txBody>
          <a:bodyPr wrap="square" rtlCol="0" anchor="ctr"/>
          <a:lstStyle/>
          <a:p>
            <a:pPr indent="0" marL="0">
              <a:buNone/>
            </a:pPr>
            <a:r>
              <a:rPr lang="en-US" sz="1800" b="1" dirty="0">
                <a:solidFill>
                  <a:srgbClr val="E74C3C"/>
                </a:solidFill>
                <a:latin typeface="Courier New" pitchFamily="34" charset="0"/>
                <a:ea typeface="Courier New" pitchFamily="34" charset="-122"/>
                <a:cs typeface="Courier New" pitchFamily="34" charset="-120"/>
              </a:rPr>
              <a:t>  312 Hz        D#4     15.1     -5.1 dB     HIGH</a:t>
            </a:r>
            <a:endParaRPr lang="en-US" sz="1800" dirty="0"/>
          </a:p>
        </p:txBody>
      </p:sp>
      <p:sp>
        <p:nvSpPr>
          <p:cNvPr id="122" name="Text 115"/>
          <p:cNvSpPr/>
          <p:nvPr/>
        </p:nvSpPr>
        <p:spPr>
          <a:xfrm>
            <a:off x="22219920" y="18470880"/>
            <a:ext cx="9052560" cy="457200"/>
          </a:xfrm>
          <a:prstGeom prst="rect">
            <a:avLst/>
          </a:prstGeom>
          <a:noFill/>
          <a:ln/>
        </p:spPr>
        <p:txBody>
          <a:bodyPr wrap="square" rtlCol="0" anchor="ctr"/>
          <a:lstStyle/>
          <a:p>
            <a:pPr indent="0" marL="0">
              <a:buNone/>
            </a:pPr>
            <a:r>
              <a:rPr lang="en-US" sz="1800" dirty="0">
                <a:solidFill>
                  <a:srgbClr val="D4A843"/>
                </a:solidFill>
                <a:latin typeface="Courier New" pitchFamily="34" charset="0"/>
                <a:ea typeface="Courier New" pitchFamily="34" charset="-122"/>
                <a:cs typeface="Courier New" pitchFamily="34" charset="-120"/>
              </a:rPr>
              <a:t>  498 Hz        B4      10.7     -3.5 dB     MODERATE</a:t>
            </a:r>
            <a:endParaRPr lang="en-US" sz="1800" dirty="0"/>
          </a:p>
        </p:txBody>
      </p:sp>
      <p:sp>
        <p:nvSpPr>
          <p:cNvPr id="123" name="Text 116"/>
          <p:cNvSpPr/>
          <p:nvPr/>
        </p:nvSpPr>
        <p:spPr>
          <a:xfrm>
            <a:off x="22219920" y="19019520"/>
            <a:ext cx="9052560" cy="457200"/>
          </a:xfrm>
          <a:prstGeom prst="rect">
            <a:avLst/>
          </a:prstGeom>
          <a:noFill/>
          <a:ln/>
        </p:spPr>
        <p:txBody>
          <a:bodyPr wrap="square" rtlCol="0" anchor="ctr"/>
          <a:lstStyle/>
          <a:p>
            <a:pPr indent="0" marL="0">
              <a:buNone/>
            </a:pPr>
            <a:r>
              <a:rPr lang="en-US" sz="1800" dirty="0">
                <a:solidFill>
                  <a:srgbClr val="2ECC71"/>
                </a:solidFill>
                <a:latin typeface="Courier New" pitchFamily="34" charset="0"/>
                <a:ea typeface="Courier New" pitchFamily="34" charset="-122"/>
                <a:cs typeface="Courier New" pitchFamily="34" charset="-120"/>
              </a:rPr>
              <a:t>  623 Hz        D#5     6.2      -2.9 dB     LOW</a:t>
            </a:r>
            <a:endParaRPr lang="en-US" sz="1800" dirty="0"/>
          </a:p>
        </p:txBody>
      </p:sp>
      <p:sp>
        <p:nvSpPr>
          <p:cNvPr id="124" name="Text 117"/>
          <p:cNvSpPr/>
          <p:nvPr/>
        </p:nvSpPr>
        <p:spPr>
          <a:xfrm>
            <a:off x="22219920" y="19476720"/>
            <a:ext cx="9052560" cy="548640"/>
          </a:xfrm>
          <a:prstGeom prst="rect">
            <a:avLst/>
          </a:prstGeom>
          <a:noFill/>
          <a:ln/>
        </p:spPr>
        <p:txBody>
          <a:bodyPr wrap="square" rtlCol="0" anchor="ctr"/>
          <a:lstStyle/>
          <a:p>
            <a:pPr indent="0" marL="0">
              <a:lnSpc>
                <a:spcPct val="130000"/>
              </a:lnSpc>
              <a:buNone/>
            </a:pPr>
            <a:r>
              <a:rPr lang="en-US" sz="1500" i="1" dirty="0">
                <a:solidFill>
                  <a:srgbClr val="16A085"/>
                </a:solidFill>
                <a:latin typeface="Arial" pitchFamily="34" charset="0"/>
                <a:ea typeface="Arial" pitchFamily="34" charset="-122"/>
                <a:cs typeface="Arial" pitchFamily="34" charset="-120"/>
              </a:rPr>
              <a:t>These values constitute a room correction filter specification — identical to</a:t>
            </a:r>
            <a:endParaRPr lang="en-US" sz="1500" dirty="0"/>
          </a:p>
          <a:p>
            <a:pPr indent="0" marL="0">
              <a:lnSpc>
                <a:spcPct val="130000"/>
              </a:lnSpc>
              <a:buNone/>
            </a:pPr>
            <a:r>
              <a:rPr lang="en-US" sz="1500" i="1" dirty="0">
                <a:solidFill>
                  <a:srgbClr val="16A085"/>
                </a:solidFill>
                <a:latin typeface="Arial" pitchFamily="34" charset="0"/>
                <a:ea typeface="Arial" pitchFamily="34" charset="-122"/>
                <a:cs typeface="Arial" pitchFamily="34" charset="-120"/>
              </a:rPr>
              <a:t>what Smaart or REW would produce, but generated in real-time from ambient sound.</a:t>
            </a:r>
            <a:endParaRPr lang="en-US" sz="1500" dirty="0"/>
          </a:p>
        </p:txBody>
      </p:sp>
      <p:sp>
        <p:nvSpPr>
          <p:cNvPr id="125" name="Shape 118"/>
          <p:cNvSpPr/>
          <p:nvPr/>
        </p:nvSpPr>
        <p:spPr>
          <a:xfrm>
            <a:off x="21945600" y="20574000"/>
            <a:ext cx="9601200" cy="73152"/>
          </a:xfrm>
          <a:prstGeom prst="rect">
            <a:avLst/>
          </a:prstGeom>
          <a:solidFill>
            <a:srgbClr val="E74C3C"/>
          </a:solidFill>
          <a:ln/>
        </p:spPr>
      </p:sp>
      <p:sp>
        <p:nvSpPr>
          <p:cNvPr id="126" name="Text 119"/>
          <p:cNvSpPr/>
          <p:nvPr/>
        </p:nvSpPr>
        <p:spPr>
          <a:xfrm>
            <a:off x="21945600" y="20756880"/>
            <a:ext cx="9601200" cy="640080"/>
          </a:xfrm>
          <a:prstGeom prst="rect">
            <a:avLst/>
          </a:prstGeom>
          <a:noFill/>
          <a:ln/>
        </p:spPr>
        <p:txBody>
          <a:bodyPr wrap="square" rtlCol="0" anchor="ctr"/>
          <a:lstStyle/>
          <a:p>
            <a:pPr indent="0" marL="0">
              <a:buNone/>
            </a:pPr>
            <a:r>
              <a:rPr lang="en-US" sz="3200" b="1" dirty="0">
                <a:solidFill>
                  <a:srgbClr val="E74C3C"/>
                </a:solidFill>
                <a:latin typeface="Arial" pitchFamily="34" charset="0"/>
                <a:ea typeface="Arial" pitchFamily="34" charset="-122"/>
                <a:cs typeface="Arial" pitchFamily="34" charset="-120"/>
              </a:rPr>
              <a:t>LIMITATIONS</a:t>
            </a:r>
            <a:endParaRPr lang="en-US" sz="3200" dirty="0"/>
          </a:p>
        </p:txBody>
      </p:sp>
      <p:sp>
        <p:nvSpPr>
          <p:cNvPr id="127" name="Shape 120"/>
          <p:cNvSpPr/>
          <p:nvPr/>
        </p:nvSpPr>
        <p:spPr>
          <a:xfrm>
            <a:off x="21945600" y="21488400"/>
            <a:ext cx="9601200" cy="2743200"/>
          </a:xfrm>
          <a:prstGeom prst="roundRect">
            <a:avLst>
              <a:gd name="adj" fmla="val 5000"/>
            </a:avLst>
          </a:prstGeom>
          <a:solidFill>
            <a:srgbClr val="161B22"/>
          </a:solidFill>
          <a:ln w="12700">
            <a:solidFill>
              <a:srgbClr val="30363D"/>
            </a:solidFill>
            <a:prstDash val="solid"/>
          </a:ln>
        </p:spPr>
      </p:sp>
      <p:sp>
        <p:nvSpPr>
          <p:cNvPr id="128" name="Text 121"/>
          <p:cNvSpPr/>
          <p:nvPr/>
        </p:nvSpPr>
        <p:spPr>
          <a:xfrm>
            <a:off x="22219920" y="21671280"/>
            <a:ext cx="9052560" cy="411480"/>
          </a:xfrm>
          <a:prstGeom prst="rect">
            <a:avLst/>
          </a:prstGeom>
          <a:noFill/>
          <a:ln/>
        </p:spPr>
        <p:txBody>
          <a:bodyPr wrap="square" rtlCol="0" anchor="ctr"/>
          <a:lstStyle/>
          <a:p>
            <a:pPr indent="0" marL="0">
              <a:buNone/>
            </a:pPr>
            <a:r>
              <a:rPr lang="en-US" sz="1600" dirty="0">
                <a:solidFill>
                  <a:srgbClr val="E0E6ED"/>
                </a:solidFill>
                <a:latin typeface="Arial" pitchFamily="34" charset="0"/>
                <a:ea typeface="Arial" pitchFamily="34" charset="-122"/>
                <a:cs typeface="Arial" pitchFamily="34" charset="-120"/>
              </a:rPr>
              <a:t>• Lower SNR than dedicated measurement signals</a:t>
            </a:r>
            <a:endParaRPr lang="en-US" sz="1600" dirty="0"/>
          </a:p>
        </p:txBody>
      </p:sp>
      <p:sp>
        <p:nvSpPr>
          <p:cNvPr id="129" name="Text 122"/>
          <p:cNvSpPr/>
          <p:nvPr/>
        </p:nvSpPr>
        <p:spPr>
          <a:xfrm>
            <a:off x="22219920" y="22128480"/>
            <a:ext cx="9052560" cy="411480"/>
          </a:xfrm>
          <a:prstGeom prst="rect">
            <a:avLst/>
          </a:prstGeom>
          <a:noFill/>
          <a:ln/>
        </p:spPr>
        <p:txBody>
          <a:bodyPr wrap="square" rtlCol="0" anchor="ctr"/>
          <a:lstStyle/>
          <a:p>
            <a:pPr indent="0" marL="0">
              <a:buNone/>
            </a:pPr>
            <a:r>
              <a:rPr lang="en-US" sz="1600" dirty="0">
                <a:solidFill>
                  <a:srgbClr val="E0E6ED"/>
                </a:solidFill>
                <a:latin typeface="Arial" pitchFamily="34" charset="0"/>
                <a:ea typeface="Arial" pitchFamily="34" charset="-122"/>
                <a:cs typeface="Arial" pitchFamily="34" charset="-120"/>
              </a:rPr>
              <a:t>• No phase response measurement (magnitude-only)</a:t>
            </a:r>
            <a:endParaRPr lang="en-US" sz="1600" dirty="0"/>
          </a:p>
        </p:txBody>
      </p:sp>
      <p:sp>
        <p:nvSpPr>
          <p:cNvPr id="130" name="Text 123"/>
          <p:cNvSpPr/>
          <p:nvPr/>
        </p:nvSpPr>
        <p:spPr>
          <a:xfrm>
            <a:off x="22219920" y="22585680"/>
            <a:ext cx="9052560" cy="411480"/>
          </a:xfrm>
          <a:prstGeom prst="rect">
            <a:avLst/>
          </a:prstGeom>
          <a:noFill/>
          <a:ln/>
        </p:spPr>
        <p:txBody>
          <a:bodyPr wrap="square" rtlCol="0" anchor="ctr"/>
          <a:lstStyle/>
          <a:p>
            <a:pPr indent="0" marL="0">
              <a:buNone/>
            </a:pPr>
            <a:r>
              <a:rPr lang="en-US" sz="1600" dirty="0">
                <a:solidFill>
                  <a:srgbClr val="E0E6ED"/>
                </a:solidFill>
                <a:latin typeface="Arial" pitchFamily="34" charset="0"/>
                <a:ea typeface="Arial" pitchFamily="34" charset="-122"/>
                <a:cs typeface="Arial" pitchFamily="34" charset="-120"/>
              </a:rPr>
              <a:t>• Cannot distinguish room modes from HVAC/structural vibration</a:t>
            </a:r>
            <a:endParaRPr lang="en-US" sz="1600" dirty="0"/>
          </a:p>
        </p:txBody>
      </p:sp>
      <p:sp>
        <p:nvSpPr>
          <p:cNvPr id="131" name="Text 124"/>
          <p:cNvSpPr/>
          <p:nvPr/>
        </p:nvSpPr>
        <p:spPr>
          <a:xfrm>
            <a:off x="22219920" y="23042880"/>
            <a:ext cx="9052560" cy="411480"/>
          </a:xfrm>
          <a:prstGeom prst="rect">
            <a:avLst/>
          </a:prstGeom>
          <a:noFill/>
          <a:ln/>
        </p:spPr>
        <p:txBody>
          <a:bodyPr wrap="square" rtlCol="0" anchor="ctr"/>
          <a:lstStyle/>
          <a:p>
            <a:pPr indent="0" marL="0">
              <a:buNone/>
            </a:pPr>
            <a:r>
              <a:rPr lang="en-US" sz="1600" dirty="0">
                <a:solidFill>
                  <a:srgbClr val="E0E6ED"/>
                </a:solidFill>
                <a:latin typeface="Arial" pitchFamily="34" charset="0"/>
                <a:ea typeface="Arial" pitchFamily="34" charset="-122"/>
                <a:cs typeface="Arial" pitchFamily="34" charset="-120"/>
              </a:rPr>
              <a:t>• Ambient excitation energy distribution is uncontrolled</a:t>
            </a:r>
            <a:endParaRPr lang="en-US" sz="1600" dirty="0"/>
          </a:p>
        </p:txBody>
      </p:sp>
      <p:sp>
        <p:nvSpPr>
          <p:cNvPr id="132" name="Text 125"/>
          <p:cNvSpPr/>
          <p:nvPr/>
        </p:nvSpPr>
        <p:spPr>
          <a:xfrm>
            <a:off x="22219920" y="23500080"/>
            <a:ext cx="9052560" cy="411480"/>
          </a:xfrm>
          <a:prstGeom prst="rect">
            <a:avLst/>
          </a:prstGeom>
          <a:noFill/>
          <a:ln/>
        </p:spPr>
        <p:txBody>
          <a:bodyPr wrap="square" rtlCol="0" anchor="ctr"/>
          <a:lstStyle/>
          <a:p>
            <a:pPr indent="0" marL="0">
              <a:buNone/>
            </a:pPr>
            <a:r>
              <a:rPr lang="en-US" sz="1600" dirty="0">
                <a:solidFill>
                  <a:srgbClr val="E0E6ED"/>
                </a:solidFill>
                <a:latin typeface="Arial" pitchFamily="34" charset="0"/>
                <a:ea typeface="Arial" pitchFamily="34" charset="-122"/>
                <a:cs typeface="Arial" pitchFamily="34" charset="-120"/>
              </a:rPr>
              <a:t>• Requires elevated sensitivity setting (threshold ≤ 8 dB)</a:t>
            </a:r>
            <a:endParaRPr lang="en-US" sz="1600" dirty="0"/>
          </a:p>
        </p:txBody>
      </p:sp>
      <p:sp>
        <p:nvSpPr>
          <p:cNvPr id="133" name="Shape 126"/>
          <p:cNvSpPr/>
          <p:nvPr/>
        </p:nvSpPr>
        <p:spPr>
          <a:xfrm>
            <a:off x="32461200" y="5486400"/>
            <a:ext cx="10515600" cy="73152"/>
          </a:xfrm>
          <a:prstGeom prst="rect">
            <a:avLst/>
          </a:prstGeom>
          <a:solidFill>
            <a:srgbClr val="16A085"/>
          </a:solidFill>
          <a:ln/>
        </p:spPr>
      </p:sp>
      <p:sp>
        <p:nvSpPr>
          <p:cNvPr id="134" name="Text 127"/>
          <p:cNvSpPr/>
          <p:nvPr/>
        </p:nvSpPr>
        <p:spPr>
          <a:xfrm>
            <a:off x="32461200" y="5669280"/>
            <a:ext cx="10515600" cy="640080"/>
          </a:xfrm>
          <a:prstGeom prst="rect">
            <a:avLst/>
          </a:prstGeom>
          <a:noFill/>
          <a:ln/>
        </p:spPr>
        <p:txBody>
          <a:bodyPr wrap="square" rtlCol="0" anchor="ctr"/>
          <a:lstStyle/>
          <a:p>
            <a:pPr indent="0" marL="0">
              <a:buNone/>
            </a:pPr>
            <a:r>
              <a:rPr lang="en-US" sz="3200" b="1" dirty="0">
                <a:solidFill>
                  <a:srgbClr val="16A085"/>
                </a:solidFill>
                <a:latin typeface="Arial" pitchFamily="34" charset="0"/>
                <a:ea typeface="Arial" pitchFamily="34" charset="-122"/>
                <a:cs typeface="Arial" pitchFamily="34" charset="-120"/>
              </a:rPr>
              <a:t>CONCLUSIONS</a:t>
            </a:r>
            <a:endParaRPr lang="en-US" sz="3200" dirty="0"/>
          </a:p>
        </p:txBody>
      </p:sp>
      <p:sp>
        <p:nvSpPr>
          <p:cNvPr id="135" name="Shape 128"/>
          <p:cNvSpPr/>
          <p:nvPr/>
        </p:nvSpPr>
        <p:spPr>
          <a:xfrm>
            <a:off x="32461200" y="6400800"/>
            <a:ext cx="10515600" cy="5029200"/>
          </a:xfrm>
          <a:prstGeom prst="roundRect">
            <a:avLst>
              <a:gd name="adj" fmla="val 2727"/>
            </a:avLst>
          </a:prstGeom>
          <a:solidFill>
            <a:srgbClr val="161B22"/>
          </a:solidFill>
          <a:ln w="25400">
            <a:solidFill>
              <a:srgbClr val="16A085"/>
            </a:solidFill>
            <a:prstDash val="solid"/>
          </a:ln>
        </p:spPr>
      </p:sp>
      <p:sp>
        <p:nvSpPr>
          <p:cNvPr id="136" name="Text 129"/>
          <p:cNvSpPr/>
          <p:nvPr/>
        </p:nvSpPr>
        <p:spPr>
          <a:xfrm>
            <a:off x="32735520" y="6675120"/>
            <a:ext cx="9966960" cy="822960"/>
          </a:xfrm>
          <a:prstGeom prst="rect">
            <a:avLst/>
          </a:prstGeom>
          <a:noFill/>
          <a:ln/>
        </p:spPr>
        <p:txBody>
          <a:bodyPr wrap="square" rtlCol="0" anchor="ctr"/>
          <a:lstStyle/>
          <a:p>
            <a:pPr indent="0" marL="0">
              <a:lnSpc>
                <a:spcPct val="130000"/>
              </a:lnSpc>
              <a:buNone/>
            </a:pPr>
            <a:r>
              <a:rPr lang="en-US" sz="1700" dirty="0">
                <a:solidFill>
                  <a:srgbClr val="E0E6ED"/>
                </a:solidFill>
                <a:latin typeface="Arial" pitchFamily="34" charset="0"/>
                <a:ea typeface="Arial" pitchFamily="34" charset="-122"/>
                <a:cs typeface="Arial" pitchFamily="34" charset="-120"/>
              </a:rPr>
              <a:t>1. Room resonances and acoustic feedback produce identical spectral signatures across all six detection algorithms.</a:t>
            </a:r>
            <a:endParaRPr lang="en-US" sz="1700" dirty="0"/>
          </a:p>
        </p:txBody>
      </p:sp>
      <p:sp>
        <p:nvSpPr>
          <p:cNvPr id="137" name="Text 130"/>
          <p:cNvSpPr/>
          <p:nvPr/>
        </p:nvSpPr>
        <p:spPr>
          <a:xfrm>
            <a:off x="32735520" y="7589520"/>
            <a:ext cx="9966960" cy="822960"/>
          </a:xfrm>
          <a:prstGeom prst="rect">
            <a:avLst/>
          </a:prstGeom>
          <a:noFill/>
          <a:ln/>
        </p:spPr>
        <p:txBody>
          <a:bodyPr wrap="square" rtlCol="0" anchor="ctr"/>
          <a:lstStyle/>
          <a:p>
            <a:pPr indent="0" marL="0">
              <a:lnSpc>
                <a:spcPct val="130000"/>
              </a:lnSpc>
              <a:buNone/>
            </a:pPr>
            <a:r>
              <a:rPr lang="en-US" sz="1700" dirty="0">
                <a:solidFill>
                  <a:srgbClr val="E0E6ED"/>
                </a:solidFill>
                <a:latin typeface="Arial" pitchFamily="34" charset="0"/>
                <a:ea typeface="Arial" pitchFamily="34" charset="-122"/>
                <a:cs typeface="Arial" pitchFamily="34" charset="-120"/>
              </a:rPr>
              <a:t>2. A feedback detection system operated at elevated sensitivity inherently performs room acoustic analysis.</a:t>
            </a:r>
            <a:endParaRPr lang="en-US" sz="1700" dirty="0"/>
          </a:p>
        </p:txBody>
      </p:sp>
      <p:sp>
        <p:nvSpPr>
          <p:cNvPr id="138" name="Text 131"/>
          <p:cNvSpPr/>
          <p:nvPr/>
        </p:nvSpPr>
        <p:spPr>
          <a:xfrm>
            <a:off x="32735520" y="8503920"/>
            <a:ext cx="9966960" cy="822960"/>
          </a:xfrm>
          <a:prstGeom prst="rect">
            <a:avLst/>
          </a:prstGeom>
          <a:noFill/>
          <a:ln/>
        </p:spPr>
        <p:txBody>
          <a:bodyPr wrap="square" rtlCol="0" anchor="ctr"/>
          <a:lstStyle/>
          <a:p>
            <a:pPr indent="0" marL="0">
              <a:lnSpc>
                <a:spcPct val="130000"/>
              </a:lnSpc>
              <a:buNone/>
            </a:pPr>
            <a:r>
              <a:rPr lang="en-US" sz="1700" dirty="0">
                <a:solidFill>
                  <a:srgbClr val="E0E6ED"/>
                </a:solidFill>
                <a:latin typeface="Arial" pitchFamily="34" charset="0"/>
                <a:ea typeface="Arial" pitchFamily="34" charset="-122"/>
                <a:cs typeface="Arial" pitchFamily="34" charset="-120"/>
              </a:rPr>
              <a:t>3. This emergent behavior enables real-time room analysis requiring zero setup: no test signal, no calibration microphone, no prior room configuration.</a:t>
            </a:r>
            <a:endParaRPr lang="en-US" sz="1700" dirty="0"/>
          </a:p>
        </p:txBody>
      </p:sp>
      <p:sp>
        <p:nvSpPr>
          <p:cNvPr id="139" name="Text 132"/>
          <p:cNvSpPr/>
          <p:nvPr/>
        </p:nvSpPr>
        <p:spPr>
          <a:xfrm>
            <a:off x="32735520" y="9418320"/>
            <a:ext cx="9966960" cy="822960"/>
          </a:xfrm>
          <a:prstGeom prst="rect">
            <a:avLst/>
          </a:prstGeom>
          <a:noFill/>
          <a:ln/>
        </p:spPr>
        <p:txBody>
          <a:bodyPr wrap="square" rtlCol="0" anchor="ctr"/>
          <a:lstStyle/>
          <a:p>
            <a:pPr indent="0" marL="0">
              <a:lnSpc>
                <a:spcPct val="130000"/>
              </a:lnSpc>
              <a:buNone/>
            </a:pPr>
            <a:r>
              <a:rPr lang="en-US" sz="1700" dirty="0">
                <a:solidFill>
                  <a:srgbClr val="E0E6ED"/>
                </a:solidFill>
                <a:latin typeface="Arial" pitchFamily="34" charset="0"/>
                <a:ea typeface="Arial" pitchFamily="34" charset="-122"/>
                <a:cs typeface="Arial" pitchFamily="34" charset="-120"/>
              </a:rPr>
              <a:t>4. The system generates parametric EQ recommendations that constitute room correction filter specifications.</a:t>
            </a:r>
            <a:endParaRPr lang="en-US" sz="1700" dirty="0"/>
          </a:p>
        </p:txBody>
      </p:sp>
      <p:sp>
        <p:nvSpPr>
          <p:cNvPr id="140" name="Text 133"/>
          <p:cNvSpPr/>
          <p:nvPr/>
        </p:nvSpPr>
        <p:spPr>
          <a:xfrm>
            <a:off x="32735520" y="10332720"/>
            <a:ext cx="9966960" cy="822960"/>
          </a:xfrm>
          <a:prstGeom prst="rect">
            <a:avLst/>
          </a:prstGeom>
          <a:noFill/>
          <a:ln/>
        </p:spPr>
        <p:txBody>
          <a:bodyPr wrap="square" rtlCol="0" anchor="ctr"/>
          <a:lstStyle/>
          <a:p>
            <a:pPr indent="0" marL="0">
              <a:lnSpc>
                <a:spcPct val="130000"/>
              </a:lnSpc>
              <a:buNone/>
            </a:pPr>
            <a:r>
              <a:rPr lang="en-US" sz="1700" dirty="0">
                <a:solidFill>
                  <a:srgbClr val="E0E6ED"/>
                </a:solidFill>
                <a:latin typeface="Arial" pitchFamily="34" charset="0"/>
                <a:ea typeface="Arial" pitchFamily="34" charset="-122"/>
                <a:cs typeface="Arial" pitchFamily="34" charset="-120"/>
              </a:rPr>
              <a:t>5. This discovery transforms a single-purpose feedback detector into a dual-purpose acoustic intelligence tool.</a:t>
            </a:r>
            <a:endParaRPr lang="en-US" sz="1700" dirty="0"/>
          </a:p>
        </p:txBody>
      </p:sp>
      <p:sp>
        <p:nvSpPr>
          <p:cNvPr id="141" name="Shape 134"/>
          <p:cNvSpPr/>
          <p:nvPr/>
        </p:nvSpPr>
        <p:spPr>
          <a:xfrm>
            <a:off x="32461200" y="11704320"/>
            <a:ext cx="10515600" cy="73152"/>
          </a:xfrm>
          <a:prstGeom prst="rect">
            <a:avLst/>
          </a:prstGeom>
          <a:solidFill>
            <a:srgbClr val="3498DB"/>
          </a:solidFill>
          <a:ln/>
        </p:spPr>
      </p:sp>
      <p:sp>
        <p:nvSpPr>
          <p:cNvPr id="142" name="Text 135"/>
          <p:cNvSpPr/>
          <p:nvPr/>
        </p:nvSpPr>
        <p:spPr>
          <a:xfrm>
            <a:off x="32461200" y="11887200"/>
            <a:ext cx="10515600" cy="640080"/>
          </a:xfrm>
          <a:prstGeom prst="rect">
            <a:avLst/>
          </a:prstGeom>
          <a:noFill/>
          <a:ln/>
        </p:spPr>
        <p:txBody>
          <a:bodyPr wrap="square" rtlCol="0" anchor="ctr"/>
          <a:lstStyle/>
          <a:p>
            <a:pPr indent="0" marL="0">
              <a:buNone/>
            </a:pPr>
            <a:r>
              <a:rPr lang="en-US" sz="3200" b="1" dirty="0">
                <a:solidFill>
                  <a:srgbClr val="3498DB"/>
                </a:solidFill>
                <a:latin typeface="Arial" pitchFamily="34" charset="0"/>
                <a:ea typeface="Arial" pitchFamily="34" charset="-122"/>
                <a:cs typeface="Arial" pitchFamily="34" charset="-120"/>
              </a:rPr>
              <a:t>FUTURE WORK</a:t>
            </a:r>
            <a:endParaRPr lang="en-US" sz="3200" dirty="0"/>
          </a:p>
        </p:txBody>
      </p:sp>
      <p:sp>
        <p:nvSpPr>
          <p:cNvPr id="143" name="Shape 136"/>
          <p:cNvSpPr/>
          <p:nvPr/>
        </p:nvSpPr>
        <p:spPr>
          <a:xfrm>
            <a:off x="32461200" y="12618720"/>
            <a:ext cx="10515600" cy="4114800"/>
          </a:xfrm>
          <a:prstGeom prst="roundRect">
            <a:avLst>
              <a:gd name="adj" fmla="val 3333"/>
            </a:avLst>
          </a:prstGeom>
          <a:solidFill>
            <a:srgbClr val="161B22"/>
          </a:solidFill>
          <a:ln w="12700">
            <a:solidFill>
              <a:srgbClr val="30363D"/>
            </a:solidFill>
            <a:prstDash val="solid"/>
          </a:ln>
        </p:spPr>
      </p:sp>
      <p:sp>
        <p:nvSpPr>
          <p:cNvPr id="144" name="Text 137"/>
          <p:cNvSpPr/>
          <p:nvPr/>
        </p:nvSpPr>
        <p:spPr>
          <a:xfrm>
            <a:off x="32735520" y="12801600"/>
            <a:ext cx="9966960" cy="548640"/>
          </a:xfrm>
          <a:prstGeom prst="rect">
            <a:avLst/>
          </a:prstGeom>
          <a:noFill/>
          <a:ln/>
        </p:spPr>
        <p:txBody>
          <a:bodyPr wrap="square" rtlCol="0" anchor="ctr"/>
          <a:lstStyle/>
          <a:p>
            <a:pPr indent="0" marL="0">
              <a:lnSpc>
                <a:spcPct val="120000"/>
              </a:lnSpc>
              <a:buNone/>
            </a:pPr>
            <a:r>
              <a:rPr lang="en-US" sz="1600" dirty="0">
                <a:solidFill>
                  <a:srgbClr val="E0E6ED"/>
                </a:solidFill>
                <a:latin typeface="Arial" pitchFamily="34" charset="0"/>
                <a:ea typeface="Arial" pitchFamily="34" charset="-122"/>
                <a:cs typeface="Arial" pitchFamily="34" charset="-120"/>
              </a:rPr>
              <a:t>1. Formal validation against calibrated room measurements (Smaart/REW comparison study)</a:t>
            </a:r>
            <a:endParaRPr lang="en-US" sz="1600" dirty="0"/>
          </a:p>
        </p:txBody>
      </p:sp>
      <p:sp>
        <p:nvSpPr>
          <p:cNvPr id="145" name="Text 138"/>
          <p:cNvSpPr/>
          <p:nvPr/>
        </p:nvSpPr>
        <p:spPr>
          <a:xfrm>
            <a:off x="32735520" y="13395960"/>
            <a:ext cx="9966960" cy="548640"/>
          </a:xfrm>
          <a:prstGeom prst="rect">
            <a:avLst/>
          </a:prstGeom>
          <a:noFill/>
          <a:ln/>
        </p:spPr>
        <p:txBody>
          <a:bodyPr wrap="square" rtlCol="0" anchor="ctr"/>
          <a:lstStyle/>
          <a:p>
            <a:pPr indent="0" marL="0">
              <a:lnSpc>
                <a:spcPct val="120000"/>
              </a:lnSpc>
              <a:buNone/>
            </a:pPr>
            <a:r>
              <a:rPr lang="en-US" sz="1600" dirty="0">
                <a:solidFill>
                  <a:srgbClr val="E0E6ED"/>
                </a:solidFill>
                <a:latin typeface="Arial" pitchFamily="34" charset="0"/>
                <a:ea typeface="Arial" pitchFamily="34" charset="-122"/>
                <a:cs typeface="Arial" pitchFamily="34" charset="-120"/>
              </a:rPr>
              <a:t>2. Dedicated "Room Analysis" mode with room resonance labeling and Schroeder frequency estimation</a:t>
            </a:r>
            <a:endParaRPr lang="en-US" sz="1600" dirty="0"/>
          </a:p>
        </p:txBody>
      </p:sp>
      <p:sp>
        <p:nvSpPr>
          <p:cNvPr id="146" name="Text 139"/>
          <p:cNvSpPr/>
          <p:nvPr/>
        </p:nvSpPr>
        <p:spPr>
          <a:xfrm>
            <a:off x="32735520" y="13990320"/>
            <a:ext cx="9966960" cy="548640"/>
          </a:xfrm>
          <a:prstGeom prst="rect">
            <a:avLst/>
          </a:prstGeom>
          <a:noFill/>
          <a:ln/>
        </p:spPr>
        <p:txBody>
          <a:bodyPr wrap="square" rtlCol="0" anchor="ctr"/>
          <a:lstStyle/>
          <a:p>
            <a:pPr indent="0" marL="0">
              <a:lnSpc>
                <a:spcPct val="120000"/>
              </a:lnSpc>
              <a:buNone/>
            </a:pPr>
            <a:r>
              <a:rPr lang="en-US" sz="1600" dirty="0">
                <a:solidFill>
                  <a:srgbClr val="E0E6ED"/>
                </a:solidFill>
                <a:latin typeface="Arial" pitchFamily="34" charset="0"/>
                <a:ea typeface="Arial" pitchFamily="34" charset="-122"/>
                <a:cs typeface="Arial" pitchFamily="34" charset="-120"/>
              </a:rPr>
              <a:t>3. Cross-validation with impulse response measurements in controlled environments</a:t>
            </a:r>
            <a:endParaRPr lang="en-US" sz="1600" dirty="0"/>
          </a:p>
        </p:txBody>
      </p:sp>
      <p:sp>
        <p:nvSpPr>
          <p:cNvPr id="147" name="Text 140"/>
          <p:cNvSpPr/>
          <p:nvPr/>
        </p:nvSpPr>
        <p:spPr>
          <a:xfrm>
            <a:off x="32735520" y="14584680"/>
            <a:ext cx="9966960" cy="548640"/>
          </a:xfrm>
          <a:prstGeom prst="rect">
            <a:avLst/>
          </a:prstGeom>
          <a:noFill/>
          <a:ln/>
        </p:spPr>
        <p:txBody>
          <a:bodyPr wrap="square" rtlCol="0" anchor="ctr"/>
          <a:lstStyle/>
          <a:p>
            <a:pPr indent="0" marL="0">
              <a:lnSpc>
                <a:spcPct val="120000"/>
              </a:lnSpc>
              <a:buNone/>
            </a:pPr>
            <a:r>
              <a:rPr lang="en-US" sz="1600" dirty="0">
                <a:solidFill>
                  <a:srgbClr val="E0E6ED"/>
                </a:solidFill>
                <a:latin typeface="Arial" pitchFamily="34" charset="0"/>
                <a:ea typeface="Arial" pitchFamily="34" charset="-122"/>
                <a:cs typeface="Arial" pitchFamily="34" charset="-120"/>
              </a:rPr>
              <a:t>4. Extended ML model training to distinguish room modes from feedback (optional classification)</a:t>
            </a:r>
            <a:endParaRPr lang="en-US" sz="1600" dirty="0"/>
          </a:p>
        </p:txBody>
      </p:sp>
      <p:sp>
        <p:nvSpPr>
          <p:cNvPr id="148" name="Text 141"/>
          <p:cNvSpPr/>
          <p:nvPr/>
        </p:nvSpPr>
        <p:spPr>
          <a:xfrm>
            <a:off x="32735520" y="15179040"/>
            <a:ext cx="9966960" cy="548640"/>
          </a:xfrm>
          <a:prstGeom prst="rect">
            <a:avLst/>
          </a:prstGeom>
          <a:noFill/>
          <a:ln/>
        </p:spPr>
        <p:txBody>
          <a:bodyPr wrap="square" rtlCol="0" anchor="ctr"/>
          <a:lstStyle/>
          <a:p>
            <a:pPr indent="0" marL="0">
              <a:lnSpc>
                <a:spcPct val="120000"/>
              </a:lnSpc>
              <a:buNone/>
            </a:pPr>
            <a:r>
              <a:rPr lang="en-US" sz="1600" dirty="0">
                <a:solidFill>
                  <a:srgbClr val="E0E6ED"/>
                </a:solidFill>
                <a:latin typeface="Arial" pitchFamily="34" charset="0"/>
                <a:ea typeface="Arial" pitchFamily="34" charset="-122"/>
                <a:cs typeface="Arial" pitchFamily="34" charset="-120"/>
              </a:rPr>
              <a:t>5. Multi-microphone spatial analysis for room mode pattern identification</a:t>
            </a:r>
            <a:endParaRPr lang="en-US" sz="1600" dirty="0"/>
          </a:p>
        </p:txBody>
      </p:sp>
      <p:sp>
        <p:nvSpPr>
          <p:cNvPr id="149" name="Text 142"/>
          <p:cNvSpPr/>
          <p:nvPr/>
        </p:nvSpPr>
        <p:spPr>
          <a:xfrm>
            <a:off x="32735520" y="15773400"/>
            <a:ext cx="9966960" cy="548640"/>
          </a:xfrm>
          <a:prstGeom prst="rect">
            <a:avLst/>
          </a:prstGeom>
          <a:noFill/>
          <a:ln/>
        </p:spPr>
        <p:txBody>
          <a:bodyPr wrap="square" rtlCol="0" anchor="ctr"/>
          <a:lstStyle/>
          <a:p>
            <a:pPr indent="0" marL="0">
              <a:lnSpc>
                <a:spcPct val="120000"/>
              </a:lnSpc>
              <a:buNone/>
            </a:pPr>
            <a:r>
              <a:rPr lang="en-US" sz="1600" dirty="0">
                <a:solidFill>
                  <a:srgbClr val="E0E6ED"/>
                </a:solidFill>
                <a:latin typeface="Arial" pitchFamily="34" charset="0"/>
                <a:ea typeface="Arial" pitchFamily="34" charset="-122"/>
                <a:cs typeface="Arial" pitchFamily="34" charset="-120"/>
              </a:rPr>
              <a:t>6. Integration with digital mixing consoles for automated room correction</a:t>
            </a:r>
            <a:endParaRPr lang="en-US" sz="1600" dirty="0"/>
          </a:p>
        </p:txBody>
      </p:sp>
      <p:sp>
        <p:nvSpPr>
          <p:cNvPr id="150" name="Shape 143"/>
          <p:cNvSpPr/>
          <p:nvPr/>
        </p:nvSpPr>
        <p:spPr>
          <a:xfrm>
            <a:off x="32461200" y="17007840"/>
            <a:ext cx="10515600" cy="73152"/>
          </a:xfrm>
          <a:prstGeom prst="rect">
            <a:avLst/>
          </a:prstGeom>
          <a:solidFill>
            <a:srgbClr val="2ECC71"/>
          </a:solidFill>
          <a:ln/>
        </p:spPr>
      </p:sp>
      <p:sp>
        <p:nvSpPr>
          <p:cNvPr id="151" name="Text 144"/>
          <p:cNvSpPr/>
          <p:nvPr/>
        </p:nvSpPr>
        <p:spPr>
          <a:xfrm>
            <a:off x="32461200" y="17190720"/>
            <a:ext cx="10515600" cy="640080"/>
          </a:xfrm>
          <a:prstGeom prst="rect">
            <a:avLst/>
          </a:prstGeom>
          <a:noFill/>
          <a:ln/>
        </p:spPr>
        <p:txBody>
          <a:bodyPr wrap="square" rtlCol="0" anchor="ctr"/>
          <a:lstStyle/>
          <a:p>
            <a:pPr indent="0" marL="0">
              <a:buNone/>
            </a:pPr>
            <a:r>
              <a:rPr lang="en-US" sz="3200" b="1" dirty="0">
                <a:solidFill>
                  <a:srgbClr val="2ECC71"/>
                </a:solidFill>
                <a:latin typeface="Arial" pitchFamily="34" charset="0"/>
                <a:ea typeface="Arial" pitchFamily="34" charset="-122"/>
                <a:cs typeface="Arial" pitchFamily="34" charset="-120"/>
              </a:rPr>
              <a:t>SYSTEM PERFORMANCE</a:t>
            </a:r>
            <a:endParaRPr lang="en-US" sz="3200" dirty="0"/>
          </a:p>
        </p:txBody>
      </p:sp>
      <p:sp>
        <p:nvSpPr>
          <p:cNvPr id="152" name="Shape 145"/>
          <p:cNvSpPr/>
          <p:nvPr/>
        </p:nvSpPr>
        <p:spPr>
          <a:xfrm>
            <a:off x="32461200" y="17922240"/>
            <a:ext cx="5029200" cy="1005840"/>
          </a:xfrm>
          <a:prstGeom prst="roundRect">
            <a:avLst>
              <a:gd name="adj" fmla="val 13636"/>
            </a:avLst>
          </a:prstGeom>
          <a:solidFill>
            <a:srgbClr val="161B22"/>
          </a:solidFill>
          <a:ln w="12700">
            <a:solidFill>
              <a:srgbClr val="30363D"/>
            </a:solidFill>
            <a:prstDash val="solid"/>
          </a:ln>
        </p:spPr>
      </p:sp>
      <p:sp>
        <p:nvSpPr>
          <p:cNvPr id="153" name="Text 146"/>
          <p:cNvSpPr/>
          <p:nvPr/>
        </p:nvSpPr>
        <p:spPr>
          <a:xfrm>
            <a:off x="32644080" y="18013680"/>
            <a:ext cx="2286000" cy="731520"/>
          </a:xfrm>
          <a:prstGeom prst="rect">
            <a:avLst/>
          </a:prstGeom>
          <a:noFill/>
          <a:ln/>
        </p:spPr>
        <p:txBody>
          <a:bodyPr wrap="square" rtlCol="0" anchor="ctr"/>
          <a:lstStyle/>
          <a:p>
            <a:pPr indent="0" marL="0">
              <a:buNone/>
            </a:pPr>
            <a:r>
              <a:rPr lang="en-US" sz="2600" b="1" dirty="0">
                <a:solidFill>
                  <a:srgbClr val="16A085"/>
                </a:solidFill>
                <a:latin typeface="Arial" pitchFamily="34" charset="0"/>
                <a:ea typeface="Arial" pitchFamily="34" charset="-122"/>
                <a:cs typeface="Arial" pitchFamily="34" charset="-120"/>
              </a:rPr>
              <a:t>50 fps</a:t>
            </a:r>
            <a:endParaRPr lang="en-US" sz="2600" dirty="0"/>
          </a:p>
        </p:txBody>
      </p:sp>
      <p:sp>
        <p:nvSpPr>
          <p:cNvPr id="154" name="Text 147"/>
          <p:cNvSpPr/>
          <p:nvPr/>
        </p:nvSpPr>
        <p:spPr>
          <a:xfrm>
            <a:off x="35021520" y="18013680"/>
            <a:ext cx="2286000" cy="731520"/>
          </a:xfrm>
          <a:prstGeom prst="rect">
            <a:avLst/>
          </a:prstGeom>
          <a:noFill/>
          <a:ln/>
        </p:spPr>
        <p:txBody>
          <a:bodyPr wrap="square" rtlCol="0" anchor="ctr"/>
          <a:lstStyle/>
          <a:p>
            <a:pPr indent="0" marL="0">
              <a:buNone/>
            </a:pPr>
            <a:r>
              <a:rPr lang="en-US" sz="1500" dirty="0">
                <a:solidFill>
                  <a:srgbClr val="E0E6ED"/>
                </a:solidFill>
                <a:latin typeface="Arial" pitchFamily="34" charset="0"/>
                <a:ea typeface="Arial" pitchFamily="34" charset="-122"/>
                <a:cs typeface="Arial" pitchFamily="34" charset="-120"/>
              </a:rPr>
              <a:t>Analysis frame rate</a:t>
            </a:r>
            <a:endParaRPr lang="en-US" sz="1500" dirty="0"/>
          </a:p>
        </p:txBody>
      </p:sp>
      <p:sp>
        <p:nvSpPr>
          <p:cNvPr id="155" name="Shape 148"/>
          <p:cNvSpPr/>
          <p:nvPr/>
        </p:nvSpPr>
        <p:spPr>
          <a:xfrm>
            <a:off x="37764720" y="17922240"/>
            <a:ext cx="5029200" cy="1005840"/>
          </a:xfrm>
          <a:prstGeom prst="roundRect">
            <a:avLst>
              <a:gd name="adj" fmla="val 13636"/>
            </a:avLst>
          </a:prstGeom>
          <a:solidFill>
            <a:srgbClr val="161B22"/>
          </a:solidFill>
          <a:ln w="12700">
            <a:solidFill>
              <a:srgbClr val="30363D"/>
            </a:solidFill>
            <a:prstDash val="solid"/>
          </a:ln>
        </p:spPr>
      </p:sp>
      <p:sp>
        <p:nvSpPr>
          <p:cNvPr id="156" name="Text 149"/>
          <p:cNvSpPr/>
          <p:nvPr/>
        </p:nvSpPr>
        <p:spPr>
          <a:xfrm>
            <a:off x="37947600" y="18013680"/>
            <a:ext cx="2286000" cy="731520"/>
          </a:xfrm>
          <a:prstGeom prst="rect">
            <a:avLst/>
          </a:prstGeom>
          <a:noFill/>
          <a:ln/>
        </p:spPr>
        <p:txBody>
          <a:bodyPr wrap="square" rtlCol="0" anchor="ctr"/>
          <a:lstStyle/>
          <a:p>
            <a:pPr indent="0" marL="0">
              <a:buNone/>
            </a:pPr>
            <a:r>
              <a:rPr lang="en-US" sz="2600" b="1" dirty="0">
                <a:solidFill>
                  <a:srgbClr val="16A085"/>
                </a:solidFill>
                <a:latin typeface="Arial" pitchFamily="34" charset="0"/>
                <a:ea typeface="Arial" pitchFamily="34" charset="-122"/>
                <a:cs typeface="Arial" pitchFamily="34" charset="-120"/>
              </a:rPr>
              <a:t>5.86 Hz</a:t>
            </a:r>
            <a:endParaRPr lang="en-US" sz="2600" dirty="0"/>
          </a:p>
        </p:txBody>
      </p:sp>
      <p:sp>
        <p:nvSpPr>
          <p:cNvPr id="157" name="Text 150"/>
          <p:cNvSpPr/>
          <p:nvPr/>
        </p:nvSpPr>
        <p:spPr>
          <a:xfrm>
            <a:off x="40325040" y="18013680"/>
            <a:ext cx="2286000" cy="731520"/>
          </a:xfrm>
          <a:prstGeom prst="rect">
            <a:avLst/>
          </a:prstGeom>
          <a:noFill/>
          <a:ln/>
        </p:spPr>
        <p:txBody>
          <a:bodyPr wrap="square" rtlCol="0" anchor="ctr"/>
          <a:lstStyle/>
          <a:p>
            <a:pPr indent="0" marL="0">
              <a:buNone/>
            </a:pPr>
            <a:r>
              <a:rPr lang="en-US" sz="1500" dirty="0">
                <a:solidFill>
                  <a:srgbClr val="E0E6ED"/>
                </a:solidFill>
                <a:latin typeface="Arial" pitchFamily="34" charset="0"/>
                <a:ea typeface="Arial" pitchFamily="34" charset="-122"/>
                <a:cs typeface="Arial" pitchFamily="34" charset="-120"/>
              </a:rPr>
              <a:t>Frequency resolution (8192-pt FFT)</a:t>
            </a:r>
            <a:endParaRPr lang="en-US" sz="1500" dirty="0"/>
          </a:p>
        </p:txBody>
      </p:sp>
      <p:sp>
        <p:nvSpPr>
          <p:cNvPr id="158" name="Shape 151"/>
          <p:cNvSpPr/>
          <p:nvPr/>
        </p:nvSpPr>
        <p:spPr>
          <a:xfrm>
            <a:off x="32461200" y="19110960"/>
            <a:ext cx="5029200" cy="1005840"/>
          </a:xfrm>
          <a:prstGeom prst="roundRect">
            <a:avLst>
              <a:gd name="adj" fmla="val 13636"/>
            </a:avLst>
          </a:prstGeom>
          <a:solidFill>
            <a:srgbClr val="161B22"/>
          </a:solidFill>
          <a:ln w="12700">
            <a:solidFill>
              <a:srgbClr val="30363D"/>
            </a:solidFill>
            <a:prstDash val="solid"/>
          </a:ln>
        </p:spPr>
      </p:sp>
      <p:sp>
        <p:nvSpPr>
          <p:cNvPr id="159" name="Text 152"/>
          <p:cNvSpPr/>
          <p:nvPr/>
        </p:nvSpPr>
        <p:spPr>
          <a:xfrm>
            <a:off x="32644080" y="19202400"/>
            <a:ext cx="2286000" cy="731520"/>
          </a:xfrm>
          <a:prstGeom prst="rect">
            <a:avLst/>
          </a:prstGeom>
          <a:noFill/>
          <a:ln/>
        </p:spPr>
        <p:txBody>
          <a:bodyPr wrap="square" rtlCol="0" anchor="ctr"/>
          <a:lstStyle/>
          <a:p>
            <a:pPr indent="0" marL="0">
              <a:buNone/>
            </a:pPr>
            <a:r>
              <a:rPr lang="en-US" sz="2600" b="1" dirty="0">
                <a:solidFill>
                  <a:srgbClr val="16A085"/>
                </a:solidFill>
                <a:latin typeface="Arial" pitchFamily="34" charset="0"/>
                <a:ea typeface="Arial" pitchFamily="34" charset="-122"/>
                <a:cs typeface="Arial" pitchFamily="34" charset="-120"/>
              </a:rPr>
              <a:t>64 KB</a:t>
            </a:r>
            <a:endParaRPr lang="en-US" sz="2600" dirty="0"/>
          </a:p>
        </p:txBody>
      </p:sp>
      <p:sp>
        <p:nvSpPr>
          <p:cNvPr id="160" name="Text 153"/>
          <p:cNvSpPr/>
          <p:nvPr/>
        </p:nvSpPr>
        <p:spPr>
          <a:xfrm>
            <a:off x="35021520" y="19202400"/>
            <a:ext cx="2286000" cy="731520"/>
          </a:xfrm>
          <a:prstGeom prst="rect">
            <a:avLst/>
          </a:prstGeom>
          <a:noFill/>
          <a:ln/>
        </p:spPr>
        <p:txBody>
          <a:bodyPr wrap="square" rtlCol="0" anchor="ctr"/>
          <a:lstStyle/>
          <a:p>
            <a:pPr indent="0" marL="0">
              <a:buNone/>
            </a:pPr>
            <a:r>
              <a:rPr lang="en-US" sz="1500" dirty="0">
                <a:solidFill>
                  <a:srgbClr val="E0E6ED"/>
                </a:solidFill>
                <a:latin typeface="Arial" pitchFamily="34" charset="0"/>
                <a:ea typeface="Arial" pitchFamily="34" charset="-122"/>
                <a:cs typeface="Arial" pitchFamily="34" charset="-120"/>
              </a:rPr>
              <a:t>MSD sparse pool memory</a:t>
            </a:r>
            <a:endParaRPr lang="en-US" sz="1500" dirty="0"/>
          </a:p>
        </p:txBody>
      </p:sp>
      <p:sp>
        <p:nvSpPr>
          <p:cNvPr id="161" name="Shape 154"/>
          <p:cNvSpPr/>
          <p:nvPr/>
        </p:nvSpPr>
        <p:spPr>
          <a:xfrm>
            <a:off x="37764720" y="19110960"/>
            <a:ext cx="5029200" cy="1005840"/>
          </a:xfrm>
          <a:prstGeom prst="roundRect">
            <a:avLst>
              <a:gd name="adj" fmla="val 13636"/>
            </a:avLst>
          </a:prstGeom>
          <a:solidFill>
            <a:srgbClr val="161B22"/>
          </a:solidFill>
          <a:ln w="12700">
            <a:solidFill>
              <a:srgbClr val="30363D"/>
            </a:solidFill>
            <a:prstDash val="solid"/>
          </a:ln>
        </p:spPr>
      </p:sp>
      <p:sp>
        <p:nvSpPr>
          <p:cNvPr id="162" name="Text 155"/>
          <p:cNvSpPr/>
          <p:nvPr/>
        </p:nvSpPr>
        <p:spPr>
          <a:xfrm>
            <a:off x="37947600" y="19202400"/>
            <a:ext cx="2286000" cy="731520"/>
          </a:xfrm>
          <a:prstGeom prst="rect">
            <a:avLst/>
          </a:prstGeom>
          <a:noFill/>
          <a:ln/>
        </p:spPr>
        <p:txBody>
          <a:bodyPr wrap="square" rtlCol="0" anchor="ctr"/>
          <a:lstStyle/>
          <a:p>
            <a:pPr indent="0" marL="0">
              <a:buNone/>
            </a:pPr>
            <a:r>
              <a:rPr lang="en-US" sz="2600" b="1" dirty="0">
                <a:solidFill>
                  <a:srgbClr val="16A085"/>
                </a:solidFill>
                <a:latin typeface="Arial" pitchFamily="34" charset="0"/>
                <a:ea typeface="Arial" pitchFamily="34" charset="-122"/>
                <a:cs typeface="Arial" pitchFamily="34" charset="-120"/>
              </a:rPr>
              <a:t>&lt; 20 ms</a:t>
            </a:r>
            <a:endParaRPr lang="en-US" sz="2600" dirty="0"/>
          </a:p>
        </p:txBody>
      </p:sp>
      <p:sp>
        <p:nvSpPr>
          <p:cNvPr id="163" name="Text 156"/>
          <p:cNvSpPr/>
          <p:nvPr/>
        </p:nvSpPr>
        <p:spPr>
          <a:xfrm>
            <a:off x="40325040" y="19202400"/>
            <a:ext cx="2286000" cy="731520"/>
          </a:xfrm>
          <a:prstGeom prst="rect">
            <a:avLst/>
          </a:prstGeom>
          <a:noFill/>
          <a:ln/>
        </p:spPr>
        <p:txBody>
          <a:bodyPr wrap="square" rtlCol="0" anchor="ctr"/>
          <a:lstStyle/>
          <a:p>
            <a:pPr indent="0" marL="0">
              <a:buNone/>
            </a:pPr>
            <a:r>
              <a:rPr lang="en-US" sz="1500" dirty="0">
                <a:solidFill>
                  <a:srgbClr val="E0E6ED"/>
                </a:solidFill>
                <a:latin typeface="Arial" pitchFamily="34" charset="0"/>
                <a:ea typeface="Arial" pitchFamily="34" charset="-122"/>
                <a:cs typeface="Arial" pitchFamily="34" charset="-120"/>
              </a:rPr>
              <a:t>Detection latency</a:t>
            </a:r>
            <a:endParaRPr lang="en-US" sz="1500" dirty="0"/>
          </a:p>
        </p:txBody>
      </p:sp>
      <p:sp>
        <p:nvSpPr>
          <p:cNvPr id="164" name="Shape 157"/>
          <p:cNvSpPr/>
          <p:nvPr/>
        </p:nvSpPr>
        <p:spPr>
          <a:xfrm>
            <a:off x="32461200" y="20299680"/>
            <a:ext cx="5029200" cy="1005840"/>
          </a:xfrm>
          <a:prstGeom prst="roundRect">
            <a:avLst>
              <a:gd name="adj" fmla="val 13636"/>
            </a:avLst>
          </a:prstGeom>
          <a:solidFill>
            <a:srgbClr val="161B22"/>
          </a:solidFill>
          <a:ln w="12700">
            <a:solidFill>
              <a:srgbClr val="30363D"/>
            </a:solidFill>
            <a:prstDash val="solid"/>
          </a:ln>
        </p:spPr>
      </p:sp>
      <p:sp>
        <p:nvSpPr>
          <p:cNvPr id="165" name="Text 158"/>
          <p:cNvSpPr/>
          <p:nvPr/>
        </p:nvSpPr>
        <p:spPr>
          <a:xfrm>
            <a:off x="32644080" y="20391120"/>
            <a:ext cx="2286000" cy="731520"/>
          </a:xfrm>
          <a:prstGeom prst="rect">
            <a:avLst/>
          </a:prstGeom>
          <a:noFill/>
          <a:ln/>
        </p:spPr>
        <p:txBody>
          <a:bodyPr wrap="square" rtlCol="0" anchor="ctr"/>
          <a:lstStyle/>
          <a:p>
            <a:pPr indent="0" marL="0">
              <a:buNone/>
            </a:pPr>
            <a:r>
              <a:rPr lang="en-US" sz="2600" b="1" dirty="0">
                <a:solidFill>
                  <a:srgbClr val="16A085"/>
                </a:solidFill>
                <a:latin typeface="Arial" pitchFamily="34" charset="0"/>
                <a:ea typeface="Arial" pitchFamily="34" charset="-122"/>
                <a:cs typeface="Arial" pitchFamily="34" charset="-120"/>
              </a:rPr>
              <a:t>929</a:t>
            </a:r>
            <a:endParaRPr lang="en-US" sz="2600" dirty="0"/>
          </a:p>
        </p:txBody>
      </p:sp>
      <p:sp>
        <p:nvSpPr>
          <p:cNvPr id="166" name="Text 159"/>
          <p:cNvSpPr/>
          <p:nvPr/>
        </p:nvSpPr>
        <p:spPr>
          <a:xfrm>
            <a:off x="35021520" y="20391120"/>
            <a:ext cx="2286000" cy="731520"/>
          </a:xfrm>
          <a:prstGeom prst="rect">
            <a:avLst/>
          </a:prstGeom>
          <a:noFill/>
          <a:ln/>
        </p:spPr>
        <p:txBody>
          <a:bodyPr wrap="square" rtlCol="0" anchor="ctr"/>
          <a:lstStyle/>
          <a:p>
            <a:pPr indent="0" marL="0">
              <a:buNone/>
            </a:pPr>
            <a:r>
              <a:rPr lang="en-US" sz="1500" dirty="0">
                <a:solidFill>
                  <a:srgbClr val="E0E6ED"/>
                </a:solidFill>
                <a:latin typeface="Arial" pitchFamily="34" charset="0"/>
                <a:ea typeface="Arial" pitchFamily="34" charset="-122"/>
                <a:cs typeface="Arial" pitchFamily="34" charset="-120"/>
              </a:rPr>
              <a:t>ML model parameters</a:t>
            </a:r>
            <a:endParaRPr lang="en-US" sz="1500" dirty="0"/>
          </a:p>
        </p:txBody>
      </p:sp>
      <p:sp>
        <p:nvSpPr>
          <p:cNvPr id="167" name="Shape 160"/>
          <p:cNvSpPr/>
          <p:nvPr/>
        </p:nvSpPr>
        <p:spPr>
          <a:xfrm>
            <a:off x="37764720" y="20299680"/>
            <a:ext cx="5029200" cy="1005840"/>
          </a:xfrm>
          <a:prstGeom prst="roundRect">
            <a:avLst>
              <a:gd name="adj" fmla="val 13636"/>
            </a:avLst>
          </a:prstGeom>
          <a:solidFill>
            <a:srgbClr val="161B22"/>
          </a:solidFill>
          <a:ln w="12700">
            <a:solidFill>
              <a:srgbClr val="30363D"/>
            </a:solidFill>
            <a:prstDash val="solid"/>
          </a:ln>
        </p:spPr>
      </p:sp>
      <p:sp>
        <p:nvSpPr>
          <p:cNvPr id="168" name="Text 161"/>
          <p:cNvSpPr/>
          <p:nvPr/>
        </p:nvSpPr>
        <p:spPr>
          <a:xfrm>
            <a:off x="37947600" y="20391120"/>
            <a:ext cx="2286000" cy="731520"/>
          </a:xfrm>
          <a:prstGeom prst="rect">
            <a:avLst/>
          </a:prstGeom>
          <a:noFill/>
          <a:ln/>
        </p:spPr>
        <p:txBody>
          <a:bodyPr wrap="square" rtlCol="0" anchor="ctr"/>
          <a:lstStyle/>
          <a:p>
            <a:pPr indent="0" marL="0">
              <a:buNone/>
            </a:pPr>
            <a:r>
              <a:rPr lang="en-US" sz="2600" b="1" dirty="0">
                <a:solidFill>
                  <a:srgbClr val="16A085"/>
                </a:solidFill>
                <a:latin typeface="Arial" pitchFamily="34" charset="0"/>
                <a:ea typeface="Arial" pitchFamily="34" charset="-122"/>
                <a:cs typeface="Arial" pitchFamily="34" charset="-120"/>
              </a:rPr>
              <a:t>488</a:t>
            </a:r>
            <a:endParaRPr lang="en-US" sz="2600" dirty="0"/>
          </a:p>
        </p:txBody>
      </p:sp>
      <p:sp>
        <p:nvSpPr>
          <p:cNvPr id="169" name="Text 162"/>
          <p:cNvSpPr/>
          <p:nvPr/>
        </p:nvSpPr>
        <p:spPr>
          <a:xfrm>
            <a:off x="40325040" y="20391120"/>
            <a:ext cx="2286000" cy="731520"/>
          </a:xfrm>
          <a:prstGeom prst="rect">
            <a:avLst/>
          </a:prstGeom>
          <a:noFill/>
          <a:ln/>
        </p:spPr>
        <p:txBody>
          <a:bodyPr wrap="square" rtlCol="0" anchor="ctr"/>
          <a:lstStyle/>
          <a:p>
            <a:pPr indent="0" marL="0">
              <a:buNone/>
            </a:pPr>
            <a:r>
              <a:rPr lang="en-US" sz="1500" dirty="0">
                <a:solidFill>
                  <a:srgbClr val="E0E6ED"/>
                </a:solidFill>
                <a:latin typeface="Arial" pitchFamily="34" charset="0"/>
                <a:ea typeface="Arial" pitchFamily="34" charset="-122"/>
                <a:cs typeface="Arial" pitchFamily="34" charset="-120"/>
              </a:rPr>
              <a:t>Automated test cases</a:t>
            </a:r>
            <a:endParaRPr lang="en-US" sz="1500" dirty="0"/>
          </a:p>
        </p:txBody>
      </p:sp>
      <p:sp>
        <p:nvSpPr>
          <p:cNvPr id="170" name="Shape 163"/>
          <p:cNvSpPr/>
          <p:nvPr/>
        </p:nvSpPr>
        <p:spPr>
          <a:xfrm>
            <a:off x="32461200" y="21671280"/>
            <a:ext cx="10515600" cy="73152"/>
          </a:xfrm>
          <a:prstGeom prst="rect">
            <a:avLst/>
          </a:prstGeom>
          <a:solidFill>
            <a:srgbClr val="8B949E"/>
          </a:solidFill>
          <a:ln/>
        </p:spPr>
      </p:sp>
      <p:sp>
        <p:nvSpPr>
          <p:cNvPr id="171" name="Text 164"/>
          <p:cNvSpPr/>
          <p:nvPr/>
        </p:nvSpPr>
        <p:spPr>
          <a:xfrm>
            <a:off x="32461200" y="21854160"/>
            <a:ext cx="10515600" cy="640080"/>
          </a:xfrm>
          <a:prstGeom prst="rect">
            <a:avLst/>
          </a:prstGeom>
          <a:noFill/>
          <a:ln/>
        </p:spPr>
        <p:txBody>
          <a:bodyPr wrap="square" rtlCol="0" anchor="ctr"/>
          <a:lstStyle/>
          <a:p>
            <a:pPr indent="0" marL="0">
              <a:buNone/>
            </a:pPr>
            <a:r>
              <a:rPr lang="en-US" sz="3200" b="1" dirty="0">
                <a:solidFill>
                  <a:srgbClr val="8B949E"/>
                </a:solidFill>
                <a:latin typeface="Arial" pitchFamily="34" charset="0"/>
                <a:ea typeface="Arial" pitchFamily="34" charset="-122"/>
                <a:cs typeface="Arial" pitchFamily="34" charset="-120"/>
              </a:rPr>
              <a:t>REFERENCES</a:t>
            </a:r>
            <a:endParaRPr lang="en-US" sz="3200" dirty="0"/>
          </a:p>
        </p:txBody>
      </p:sp>
      <p:sp>
        <p:nvSpPr>
          <p:cNvPr id="172" name="Shape 165"/>
          <p:cNvSpPr/>
          <p:nvPr/>
        </p:nvSpPr>
        <p:spPr>
          <a:xfrm>
            <a:off x="32461200" y="22585680"/>
            <a:ext cx="10515600" cy="5029200"/>
          </a:xfrm>
          <a:prstGeom prst="roundRect">
            <a:avLst>
              <a:gd name="adj" fmla="val 2727"/>
            </a:avLst>
          </a:prstGeom>
          <a:solidFill>
            <a:srgbClr val="161B22"/>
          </a:solidFill>
          <a:ln w="12700">
            <a:solidFill>
              <a:srgbClr val="30363D"/>
            </a:solidFill>
            <a:prstDash val="solid"/>
          </a:ln>
        </p:spPr>
      </p:sp>
      <p:sp>
        <p:nvSpPr>
          <p:cNvPr id="173" name="Text 166"/>
          <p:cNvSpPr/>
          <p:nvPr/>
        </p:nvSpPr>
        <p:spPr>
          <a:xfrm>
            <a:off x="32735520" y="227685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[1] Rohdenburg et al., "Magnitude Slope Deviation for Acoustic Feedback Detection," DAFx-16, 2016</a:t>
            </a:r>
            <a:endParaRPr lang="en-US" sz="1300" dirty="0"/>
          </a:p>
        </p:txBody>
      </p:sp>
      <p:sp>
        <p:nvSpPr>
          <p:cNvPr id="174" name="Text 167"/>
          <p:cNvSpPr/>
          <p:nvPr/>
        </p:nvSpPr>
        <p:spPr>
          <a:xfrm>
            <a:off x="32735520" y="232257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[2] Hopkins, C., "Sound Insulation," Butterworth-Heinemann, 2007</a:t>
            </a:r>
            <a:endParaRPr lang="en-US" sz="1300" dirty="0"/>
          </a:p>
        </p:txBody>
      </p:sp>
      <p:sp>
        <p:nvSpPr>
          <p:cNvPr id="175" name="Text 168"/>
          <p:cNvSpPr/>
          <p:nvPr/>
        </p:nvSpPr>
        <p:spPr>
          <a:xfrm>
            <a:off x="32735520" y="236829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[3] Glasberg &amp; Moore, "Derivation of auditory filter shapes," Hearing Research, 1990</a:t>
            </a:r>
            <a:endParaRPr lang="en-US" sz="1300" dirty="0"/>
          </a:p>
        </p:txBody>
      </p:sp>
      <p:sp>
        <p:nvSpPr>
          <p:cNvPr id="176" name="Text 169"/>
          <p:cNvSpPr/>
          <p:nvPr/>
        </p:nvSpPr>
        <p:spPr>
          <a:xfrm>
            <a:off x="32735520" y="241401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[4] Schroeder, M.R., "The 'Schroeder frequency' revisited," JASA, 1996</a:t>
            </a:r>
            <a:endParaRPr lang="en-US" sz="1300" dirty="0"/>
          </a:p>
        </p:txBody>
      </p:sp>
      <p:sp>
        <p:nvSpPr>
          <p:cNvPr id="177" name="Text 170"/>
          <p:cNvSpPr/>
          <p:nvPr/>
        </p:nvSpPr>
        <p:spPr>
          <a:xfrm>
            <a:off x="32735520" y="245973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[5] van Waterschoot &amp; Moonen, "Fifty Years of Acoustic Feedback Control," Proc. IEEE, 2011</a:t>
            </a:r>
            <a:endParaRPr lang="en-US" sz="1300" dirty="0"/>
          </a:p>
        </p:txBody>
      </p:sp>
      <p:sp>
        <p:nvSpPr>
          <p:cNvPr id="178" name="Text 171"/>
          <p:cNvSpPr/>
          <p:nvPr/>
        </p:nvSpPr>
        <p:spPr>
          <a:xfrm>
            <a:off x="32735520" y="250545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[6] Rational Acoustics, "Smaart v8 User Guide," 2018</a:t>
            </a:r>
            <a:endParaRPr lang="en-US" sz="1300" dirty="0"/>
          </a:p>
        </p:txBody>
      </p:sp>
      <p:sp>
        <p:nvSpPr>
          <p:cNvPr id="179" name="Text 172"/>
          <p:cNvSpPr/>
          <p:nvPr/>
        </p:nvSpPr>
        <p:spPr>
          <a:xfrm>
            <a:off x="32735520" y="255117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[7] Fisher, N.I., "Statistical Analysis of Circular Data," Cambridge, 1993</a:t>
            </a:r>
            <a:endParaRPr lang="en-US" sz="1300" dirty="0"/>
          </a:p>
        </p:txBody>
      </p:sp>
      <p:sp>
        <p:nvSpPr>
          <p:cNvPr id="180" name="Text 173"/>
          <p:cNvSpPr/>
          <p:nvPr/>
        </p:nvSpPr>
        <p:spPr>
          <a:xfrm>
            <a:off x="32735520" y="259689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[8] Cooley &amp; Tukey, "An Algorithm for Complex Fourier Series," Math. Comp., 1965</a:t>
            </a:r>
            <a:endParaRPr lang="en-US" sz="1300" dirty="0"/>
          </a:p>
        </p:txBody>
      </p:sp>
      <p:sp>
        <p:nvSpPr>
          <p:cNvPr id="181" name="Text 174"/>
          <p:cNvSpPr/>
          <p:nvPr/>
        </p:nvSpPr>
        <p:spPr>
          <a:xfrm>
            <a:off x="32735520" y="264261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[9] Kuttruff, H., "Room Acoustics," 6th ed., CRC Press, 2016</a:t>
            </a:r>
            <a:endParaRPr lang="en-US" sz="1300" dirty="0"/>
          </a:p>
        </p:txBody>
      </p:sp>
      <p:sp>
        <p:nvSpPr>
          <p:cNvPr id="182" name="Text 175"/>
          <p:cNvSpPr/>
          <p:nvPr/>
        </p:nvSpPr>
        <p:spPr>
          <a:xfrm>
            <a:off x="32735520" y="26883360"/>
            <a:ext cx="9966960" cy="411480"/>
          </a:xfrm>
          <a:prstGeom prst="rect">
            <a:avLst/>
          </a:prstGeom>
          <a:noFill/>
          <a:ln/>
        </p:spPr>
        <p:txBody>
          <a:bodyPr wrap="square" rtlCol="0" anchor="ctr"/>
          <a:lstStyle/>
          <a:p>
            <a:pPr indent="0" marL="0">
              <a:lnSpc>
                <a:spcPct val="110000"/>
              </a:lnSpc>
              <a:buNone/>
            </a:pPr>
            <a:r>
              <a:rPr lang="en-US" sz="1300" dirty="0">
                <a:solidFill>
                  <a:srgbClr val="8B949E"/>
                </a:solidFill>
                <a:latin typeface="Arial" pitchFamily="34" charset="0"/>
                <a:ea typeface="Arial" pitchFamily="34" charset="-122"/>
                <a:cs typeface="Arial" pitchFamily="34" charset="-120"/>
              </a:rPr>
              <a:t>[10] Wells, D., "Kill The Ring: Real-Time Acoustic Feedback Detection," 2026</a:t>
            </a:r>
            <a:endParaRPr lang="en-US" sz="1300" dirty="0"/>
          </a:p>
        </p:txBody>
      </p:sp>
      <p:sp>
        <p:nvSpPr>
          <p:cNvPr id="183" name="Shape 176"/>
          <p:cNvSpPr/>
          <p:nvPr/>
        </p:nvSpPr>
        <p:spPr>
          <a:xfrm>
            <a:off x="914400" y="31272480"/>
            <a:ext cx="42062400" cy="1280160"/>
          </a:xfrm>
          <a:prstGeom prst="roundRect">
            <a:avLst>
              <a:gd name="adj" fmla="val 10714"/>
            </a:avLst>
          </a:prstGeom>
          <a:solidFill>
            <a:srgbClr val="121E36"/>
          </a:solidFill>
          <a:ln w="25400">
            <a:solidFill>
              <a:srgbClr val="16A085"/>
            </a:solidFill>
            <a:prstDash val="solid"/>
          </a:ln>
        </p:spPr>
      </p:sp>
      <p:sp>
        <p:nvSpPr>
          <p:cNvPr id="184" name="Text 177"/>
          <p:cNvSpPr/>
          <p:nvPr/>
        </p:nvSpPr>
        <p:spPr>
          <a:xfrm>
            <a:off x="1828800" y="31363920"/>
            <a:ext cx="18288000" cy="457200"/>
          </a:xfrm>
          <a:prstGeom prst="rect">
            <a:avLst/>
          </a:prstGeom>
          <a:noFill/>
          <a:ln/>
        </p:spPr>
        <p:txBody>
          <a:bodyPr wrap="square" rtlCol="0" anchor="ctr"/>
          <a:lstStyle/>
          <a:p>
            <a:pPr indent="0" marL="0">
              <a:buNone/>
            </a:pPr>
            <a:r>
              <a:rPr lang="en-US" sz="2200" b="1" dirty="0">
                <a:solidFill>
                  <a:srgbClr val="16A085"/>
                </a:solidFill>
                <a:latin typeface="Arial" pitchFamily="34" charset="0"/>
                <a:ea typeface="Arial" pitchFamily="34" charset="-122"/>
                <a:cs typeface="Arial" pitchFamily="34" charset="-120"/>
              </a:rPr>
              <a:t>Kill The Ring  •  killthering.com  •  Real-Time Acoustic Intelligence</a:t>
            </a:r>
            <a:endParaRPr lang="en-US" sz="2200" dirty="0"/>
          </a:p>
        </p:txBody>
      </p:sp>
      <p:sp>
        <p:nvSpPr>
          <p:cNvPr id="185" name="Text 178"/>
          <p:cNvSpPr/>
          <p:nvPr/>
        </p:nvSpPr>
        <p:spPr>
          <a:xfrm>
            <a:off x="1828800" y="31912560"/>
            <a:ext cx="32004000" cy="365760"/>
          </a:xfrm>
          <a:prstGeom prst="rect">
            <a:avLst/>
          </a:prstGeom>
          <a:noFill/>
          <a:ln/>
        </p:spPr>
        <p:txBody>
          <a:bodyPr wrap="square" rtlCol="0" anchor="ctr"/>
          <a:lstStyle/>
          <a:p>
            <a:pPr indent="0" marL="0">
              <a:buNone/>
            </a:pPr>
            <a:r>
              <a:rPr lang="en-US" sz="1600" dirty="0">
                <a:solidFill>
                  <a:srgbClr val="8B949E"/>
                </a:solidFill>
                <a:latin typeface="Arial" pitchFamily="34" charset="0"/>
                <a:ea typeface="Arial" pitchFamily="34" charset="-122"/>
                <a:cs typeface="Arial" pitchFamily="34" charset="-120"/>
              </a:rPr>
              <a:t>US Provisional Patent Application Filed March 20, 2026  •  AES Convention Paper Submitted  •  Open Source: github.com/donwellsav/killthering</a:t>
            </a:r>
            <a:endParaRPr lang="en-US" sz="1600" dirty="0"/>
          </a:p>
        </p:txBody>
      </p:sp>
      <p:sp>
        <p:nvSpPr>
          <p:cNvPr id="186" name="Text 179"/>
          <p:cNvSpPr/>
          <p:nvPr/>
        </p:nvSpPr>
        <p:spPr>
          <a:xfrm>
            <a:off x="32004000" y="31363920"/>
            <a:ext cx="10058400" cy="914400"/>
          </a:xfrm>
          <a:prstGeom prst="rect">
            <a:avLst/>
          </a:prstGeom>
          <a:noFill/>
          <a:ln/>
        </p:spPr>
        <p:txBody>
          <a:bodyPr wrap="square" rtlCol="0" anchor="ctr"/>
          <a:lstStyle/>
          <a:p>
            <a:pPr algn="r" indent="0" marL="0">
              <a:buNone/>
            </a:pPr>
            <a:r>
              <a:rPr lang="en-US" sz="2000" b="1" dirty="0">
                <a:solidFill>
                  <a:srgbClr val="D4A843"/>
                </a:solidFill>
                <a:latin typeface="Arial" pitchFamily="34" charset="0"/>
                <a:ea typeface="Arial" pitchFamily="34" charset="-122"/>
                <a:cs typeface="Arial" pitchFamily="34" charset="-120"/>
              </a:rPr>
              <a:t>Don Wells  •  don@killthering.com</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KTR Conference Poster — Emergent Room Resonance Analysis</dc:title>
  <dc:subject>PptxGenJS Presentation</dc:subject>
  <dc:creator>Don Wells</dc:creator>
  <cp:lastModifiedBy>Don Wells</cp:lastModifiedBy>
  <cp:revision>1</cp:revision>
  <dcterms:created xsi:type="dcterms:W3CDTF">2026-03-20T07:15:23Z</dcterms:created>
  <dcterms:modified xsi:type="dcterms:W3CDTF">2026-03-20T07:15:23Z</dcterms:modified>
</cp:coreProperties>
</file>